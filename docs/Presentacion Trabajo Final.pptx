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56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8.png"/><Relationship Id="rId10" Type="http://schemas.microsoft.com/office/2007/relationships/hdphoto" Target="../media/hdphoto3.wdp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1904" y="2209800"/>
            <a:ext cx="469685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788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SDGEStreaming</a:t>
            </a:r>
            <a:endParaRPr lang="en-US" sz="4788" dirty="0"/>
          </a:p>
        </p:txBody>
      </p:sp>
      <p:sp>
        <p:nvSpPr>
          <p:cNvPr id="3" name="Text 1"/>
          <p:cNvSpPr txBox="1"/>
          <p:nvPr/>
        </p:nvSpPr>
        <p:spPr>
          <a:xfrm>
            <a:off x="405384" y="2971800"/>
            <a:ext cx="526999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Una Plataforma Backend para Contenido Digital de Streaming</a:t>
            </a:r>
            <a:endParaRPr lang="en-US" sz="1795" dirty="0"/>
          </a:p>
        </p:txBody>
      </p:sp>
      <p:sp>
        <p:nvSpPr>
          <p:cNvPr id="4" name="Text 2"/>
          <p:cNvSpPr txBox="1"/>
          <p:nvPr/>
        </p:nvSpPr>
        <p:spPr>
          <a:xfrm>
            <a:off x="1468626" y="3835400"/>
            <a:ext cx="314340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 err="1">
                <a:solidFill>
                  <a:srgbClr val="6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Programación</a:t>
            </a:r>
            <a:r>
              <a:rPr lang="en-US" sz="1197" dirty="0">
                <a:solidFill>
                  <a:srgbClr val="68B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Orientada a Objetos</a:t>
            </a:r>
            <a:endParaRPr lang="en-US" sz="1197" dirty="0"/>
          </a:p>
        </p:txBody>
      </p:sp>
      <p:sp>
        <p:nvSpPr>
          <p:cNvPr id="5" name="Text 3"/>
          <p:cNvSpPr txBox="1"/>
          <p:nvPr/>
        </p:nvSpPr>
        <p:spPr>
          <a:xfrm>
            <a:off x="1468626" y="4140200"/>
            <a:ext cx="314340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Implementación en Go (Golang)</a:t>
            </a:r>
            <a:endParaRPr lang="en-US" sz="1197" dirty="0"/>
          </a:p>
        </p:txBody>
      </p:sp>
      <p:sp>
        <p:nvSpPr>
          <p:cNvPr id="6" name="Text 4"/>
          <p:cNvSpPr txBox="1"/>
          <p:nvPr/>
        </p:nvSpPr>
        <p:spPr>
          <a:xfrm>
            <a:off x="1468626" y="4445000"/>
            <a:ext cx="314340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Académico 2025</a:t>
            </a:r>
            <a:endParaRPr lang="en-US" sz="1197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18605" b="18605"/>
          <a:stretch/>
        </p:blipFill>
        <p:spPr>
          <a:xfrm>
            <a:off x="6080760" y="0"/>
            <a:ext cx="60807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Objetivos del Proyecto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990600"/>
            <a:ext cx="11148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fue diseñado con tres pilares fundamentales: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506730" y="1917700"/>
            <a:ext cx="11148060" cy="1282700"/>
          </a:xfrm>
          <a:prstGeom prst="roundRect">
            <a:avLst>
              <a:gd name="adj" fmla="val 8470"/>
            </a:avLst>
          </a:prstGeom>
          <a:solidFill>
            <a:srgbClr val="0077BE">
              <a:alpha val="10000"/>
            </a:srgbClr>
          </a:solidFill>
          <a:ln w="12668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090" y="2159000"/>
            <a:ext cx="380048" cy="381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54157" y="2133600"/>
            <a:ext cx="101852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Objetivo General</a:t>
            </a:r>
            <a:endParaRPr lang="en-US" sz="1795" dirty="0"/>
          </a:p>
        </p:txBody>
      </p:sp>
      <p:sp>
        <p:nvSpPr>
          <p:cNvPr id="7" name="Text 4"/>
          <p:cNvSpPr txBox="1"/>
          <p:nvPr/>
        </p:nvSpPr>
        <p:spPr>
          <a:xfrm>
            <a:off x="1254157" y="2489200"/>
            <a:ext cx="101852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Desarrollar un sistema backend completo para la gestión de contenido audiovisual y de audio, implementando arquitectura modular y separación de responsabilidades en Go.</a:t>
            </a:r>
            <a:endParaRPr lang="en-US" sz="1197" dirty="0"/>
          </a:p>
        </p:txBody>
      </p:sp>
      <p:sp>
        <p:nvSpPr>
          <p:cNvPr id="8" name="Shape 5"/>
          <p:cNvSpPr/>
          <p:nvPr/>
        </p:nvSpPr>
        <p:spPr>
          <a:xfrm>
            <a:off x="506730" y="3454400"/>
            <a:ext cx="11148060" cy="1035050"/>
          </a:xfrm>
          <a:prstGeom prst="roundRect">
            <a:avLst>
              <a:gd name="adj" fmla="val 13008"/>
            </a:avLst>
          </a:prstGeom>
          <a:solidFill>
            <a:srgbClr val="0077BE">
              <a:alpha val="10000"/>
            </a:srgbClr>
          </a:solidFill>
          <a:ln w="12668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2090" y="3695700"/>
            <a:ext cx="380048" cy="381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54157" y="3670300"/>
            <a:ext cx="101852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Seguridad y Autenticación</a:t>
            </a:r>
            <a:endParaRPr lang="en-US" sz="1795" dirty="0"/>
          </a:p>
        </p:txBody>
      </p:sp>
      <p:sp>
        <p:nvSpPr>
          <p:cNvPr id="11" name="Text 7"/>
          <p:cNvSpPr txBox="1"/>
          <p:nvPr/>
        </p:nvSpPr>
        <p:spPr>
          <a:xfrm>
            <a:off x="1254157" y="4025900"/>
            <a:ext cx="101852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Garantizar la seguridad de usuarios mediante autenticación robusta con hashing bcrypt, validación de accesos, y protección de datos sensibles.</a:t>
            </a:r>
            <a:endParaRPr lang="en-US" sz="1197" dirty="0"/>
          </a:p>
        </p:txBody>
      </p:sp>
      <p:sp>
        <p:nvSpPr>
          <p:cNvPr id="12" name="Shape 8"/>
          <p:cNvSpPr/>
          <p:nvPr/>
        </p:nvSpPr>
        <p:spPr>
          <a:xfrm>
            <a:off x="506730" y="4743450"/>
            <a:ext cx="11148060" cy="1035050"/>
          </a:xfrm>
          <a:prstGeom prst="roundRect">
            <a:avLst>
              <a:gd name="adj" fmla="val 13008"/>
            </a:avLst>
          </a:prstGeom>
          <a:solidFill>
            <a:srgbClr val="0077BE">
              <a:alpha val="10000"/>
            </a:srgbClr>
          </a:solidFill>
          <a:ln w="12668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2090" y="4984750"/>
            <a:ext cx="380048" cy="381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54157" y="4959350"/>
            <a:ext cx="101852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Administración de Contenido</a:t>
            </a:r>
            <a:endParaRPr lang="en-US" sz="1795" dirty="0"/>
          </a:p>
        </p:txBody>
      </p:sp>
      <p:sp>
        <p:nvSpPr>
          <p:cNvPr id="15" name="Text 10"/>
          <p:cNvSpPr txBox="1"/>
          <p:nvPr/>
        </p:nvSpPr>
        <p:spPr>
          <a:xfrm>
            <a:off x="1254157" y="5314950"/>
            <a:ext cx="101852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un sistema completo de catálogo filtrado por edad, gestión de favoritos, historial de reproducción, y calificaciones de contenido.</a:t>
            </a:r>
            <a:endParaRPr lang="en-US" sz="1197" dirty="0"/>
          </a:p>
        </p:txBody>
      </p:sp>
      <p:sp>
        <p:nvSpPr>
          <p:cNvPr id="16" name="Text 11"/>
          <p:cNvSpPr txBox="1"/>
          <p:nvPr/>
        </p:nvSpPr>
        <p:spPr>
          <a:xfrm>
            <a:off x="0" y="65278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Alcance del Sistema y Funcionalidades</a:t>
            </a:r>
            <a:endParaRPr lang="en-US" sz="299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30" y="990600"/>
            <a:ext cx="304038" cy="30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6778" y="1016000"/>
            <a:ext cx="23821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Funcionalidades Core</a:t>
            </a:r>
            <a:endParaRPr lang="en-US" sz="1795" dirty="0"/>
          </a:p>
        </p:txBody>
      </p:sp>
      <p:sp>
        <p:nvSpPr>
          <p:cNvPr id="5" name="Text 2"/>
          <p:cNvSpPr txBox="1"/>
          <p:nvPr/>
        </p:nvSpPr>
        <p:spPr>
          <a:xfrm>
            <a:off x="506730" y="15494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Autenticación segura</a:t>
            </a:r>
            <a:endParaRPr lang="en-US" sz="1197" dirty="0"/>
          </a:p>
        </p:txBody>
      </p:sp>
      <p:sp>
        <p:nvSpPr>
          <p:cNvPr id="6" name="Text 3"/>
          <p:cNvSpPr txBox="1"/>
          <p:nvPr/>
        </p:nvSpPr>
        <p:spPr>
          <a:xfrm>
            <a:off x="658749" y="17780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e inicio de sesión con validaciones y hashing bcrypt</a:t>
            </a:r>
            <a:endParaRPr lang="en-US" sz="998" dirty="0"/>
          </a:p>
        </p:txBody>
      </p:sp>
      <p:sp>
        <p:nvSpPr>
          <p:cNvPr id="7" name="Text 4"/>
          <p:cNvSpPr txBox="1"/>
          <p:nvPr/>
        </p:nvSpPr>
        <p:spPr>
          <a:xfrm>
            <a:off x="506730" y="20828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perfiles múltiples</a:t>
            </a:r>
            <a:endParaRPr lang="en-US" sz="1197" dirty="0"/>
          </a:p>
        </p:txBody>
      </p:sp>
      <p:sp>
        <p:nvSpPr>
          <p:cNvPr id="8" name="Text 5"/>
          <p:cNvSpPr txBox="1"/>
          <p:nvPr/>
        </p:nvSpPr>
        <p:spPr>
          <a:xfrm>
            <a:off x="658749" y="23114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4 perfiles según plan de suscripción</a:t>
            </a:r>
            <a:endParaRPr lang="en-US" sz="998" dirty="0"/>
          </a:p>
        </p:txBody>
      </p:sp>
      <p:sp>
        <p:nvSpPr>
          <p:cNvPr id="9" name="Text 6"/>
          <p:cNvSpPr txBox="1"/>
          <p:nvPr/>
        </p:nvSpPr>
        <p:spPr>
          <a:xfrm>
            <a:off x="506730" y="26162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Catálogo filtrado por edad</a:t>
            </a:r>
            <a:endParaRPr lang="en-US" sz="1197" dirty="0"/>
          </a:p>
        </p:txBody>
      </p:sp>
      <p:sp>
        <p:nvSpPr>
          <p:cNvPr id="10" name="Text 7"/>
          <p:cNvSpPr txBox="1"/>
          <p:nvPr/>
        </p:nvSpPr>
        <p:spPr>
          <a:xfrm>
            <a:off x="658749" y="28448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clasificación G, PG, PG-13, R para protección de menores</a:t>
            </a:r>
            <a:endParaRPr lang="en-US" sz="998" dirty="0"/>
          </a:p>
        </p:txBody>
      </p:sp>
      <p:sp>
        <p:nvSpPr>
          <p:cNvPr id="11" name="Text 8"/>
          <p:cNvSpPr txBox="1"/>
          <p:nvPr/>
        </p:nvSpPr>
        <p:spPr>
          <a:xfrm>
            <a:off x="506730" y="31496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 Lista (Favoritos)</a:t>
            </a:r>
            <a:endParaRPr lang="en-US" sz="1197" dirty="0"/>
          </a:p>
        </p:txBody>
      </p:sp>
      <p:sp>
        <p:nvSpPr>
          <p:cNvPr id="12" name="Text 9"/>
          <p:cNvSpPr txBox="1"/>
          <p:nvPr/>
        </p:nvSpPr>
        <p:spPr>
          <a:xfrm>
            <a:off x="658749" y="33782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diferenciada por tipo de contenido (audio/audiovisual)</a:t>
            </a:r>
            <a:endParaRPr lang="en-US" sz="998" dirty="0"/>
          </a:p>
        </p:txBody>
      </p:sp>
      <p:sp>
        <p:nvSpPr>
          <p:cNvPr id="13" name="Text 10"/>
          <p:cNvSpPr txBox="1"/>
          <p:nvPr/>
        </p:nvSpPr>
        <p:spPr>
          <a:xfrm>
            <a:off x="506730" y="36830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Historial de reproducción</a:t>
            </a:r>
            <a:endParaRPr lang="en-US" sz="1197" dirty="0"/>
          </a:p>
        </p:txBody>
      </p:sp>
      <p:sp>
        <p:nvSpPr>
          <p:cNvPr id="14" name="Text 11"/>
          <p:cNvSpPr txBox="1"/>
          <p:nvPr/>
        </p:nvSpPr>
        <p:spPr>
          <a:xfrm>
            <a:off x="658749" y="39116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automático con seguimiento de progreso</a:t>
            </a:r>
            <a:endParaRPr lang="en-US" sz="998" dirty="0"/>
          </a:p>
        </p:txBody>
      </p:sp>
      <p:sp>
        <p:nvSpPr>
          <p:cNvPr id="15" name="Text 12"/>
          <p:cNvSpPr txBox="1"/>
          <p:nvPr/>
        </p:nvSpPr>
        <p:spPr>
          <a:xfrm>
            <a:off x="506730" y="42164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Sistema de calificaciones</a:t>
            </a:r>
            <a:endParaRPr lang="en-US" sz="1197" dirty="0"/>
          </a:p>
        </p:txBody>
      </p:sp>
      <p:sp>
        <p:nvSpPr>
          <p:cNvPr id="16" name="Text 13"/>
          <p:cNvSpPr txBox="1"/>
          <p:nvPr/>
        </p:nvSpPr>
        <p:spPr>
          <a:xfrm>
            <a:off x="658749" y="44450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Calificación 1.0-10.0 con promedio ajustado dinámicamente</a:t>
            </a:r>
            <a:endParaRPr lang="en-US" sz="998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32779" y="990600"/>
            <a:ext cx="304038" cy="3048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12827" y="1016000"/>
            <a:ext cx="290172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Administración y Reportes</a:t>
            </a:r>
            <a:endParaRPr lang="en-US" sz="1795" dirty="0"/>
          </a:p>
        </p:txBody>
      </p:sp>
      <p:sp>
        <p:nvSpPr>
          <p:cNvPr id="19" name="Text 15"/>
          <p:cNvSpPr txBox="1"/>
          <p:nvPr/>
        </p:nvSpPr>
        <p:spPr>
          <a:xfrm>
            <a:off x="6232779" y="15494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Panel de administración</a:t>
            </a:r>
            <a:endParaRPr lang="en-US" sz="1197" dirty="0"/>
          </a:p>
        </p:txBody>
      </p:sp>
      <p:sp>
        <p:nvSpPr>
          <p:cNvPr id="20" name="Text 16"/>
          <p:cNvSpPr txBox="1"/>
          <p:nvPr/>
        </p:nvSpPr>
        <p:spPr>
          <a:xfrm>
            <a:off x="6384798" y="17780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Menú exclusivo para usuarios con rol admin</a:t>
            </a:r>
            <a:endParaRPr lang="en-US" sz="998" dirty="0"/>
          </a:p>
        </p:txBody>
      </p:sp>
      <p:sp>
        <p:nvSpPr>
          <p:cNvPr id="21" name="Text 17"/>
          <p:cNvSpPr txBox="1"/>
          <p:nvPr/>
        </p:nvSpPr>
        <p:spPr>
          <a:xfrm>
            <a:off x="6232779" y="20828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contenido</a:t>
            </a:r>
            <a:endParaRPr lang="en-US" sz="1197" dirty="0"/>
          </a:p>
        </p:txBody>
      </p:sp>
      <p:sp>
        <p:nvSpPr>
          <p:cNvPr id="22" name="Text 18"/>
          <p:cNvSpPr txBox="1"/>
          <p:nvPr/>
        </p:nvSpPr>
        <p:spPr>
          <a:xfrm>
            <a:off x="6384798" y="23114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y administrar contenido audiovisual y de audio</a:t>
            </a:r>
            <a:endParaRPr lang="en-US" sz="998" dirty="0"/>
          </a:p>
        </p:txBody>
      </p:sp>
      <p:sp>
        <p:nvSpPr>
          <p:cNvPr id="23" name="Text 19"/>
          <p:cNvSpPr txBox="1"/>
          <p:nvPr/>
        </p:nvSpPr>
        <p:spPr>
          <a:xfrm>
            <a:off x="6232779" y="26162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usuarios</a:t>
            </a:r>
            <a:endParaRPr lang="en-US" sz="1197" dirty="0"/>
          </a:p>
        </p:txBody>
      </p:sp>
      <p:sp>
        <p:nvSpPr>
          <p:cNvPr id="24" name="Text 20"/>
          <p:cNvSpPr txBox="1"/>
          <p:nvPr/>
        </p:nvSpPr>
        <p:spPr>
          <a:xfrm>
            <a:off x="6384798" y="28448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Visualización completa de usuarios registrados</a:t>
            </a:r>
            <a:endParaRPr lang="en-US" sz="998" dirty="0"/>
          </a:p>
        </p:txBody>
      </p:sp>
      <p:sp>
        <p:nvSpPr>
          <p:cNvPr id="25" name="Text 21"/>
          <p:cNvSpPr txBox="1"/>
          <p:nvPr/>
        </p:nvSpPr>
        <p:spPr>
          <a:xfrm>
            <a:off x="6232779" y="31496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Tendencias y popularidad</a:t>
            </a:r>
            <a:endParaRPr lang="en-US" sz="1197" dirty="0"/>
          </a:p>
        </p:txBody>
      </p:sp>
      <p:sp>
        <p:nvSpPr>
          <p:cNvPr id="26" name="Text 22"/>
          <p:cNvSpPr txBox="1"/>
          <p:nvPr/>
        </p:nvSpPr>
        <p:spPr>
          <a:xfrm>
            <a:off x="6384798" y="33782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más popular basado en calificaciones</a:t>
            </a:r>
            <a:endParaRPr lang="en-US" sz="998" dirty="0"/>
          </a:p>
        </p:txBody>
      </p:sp>
      <p:sp>
        <p:nvSpPr>
          <p:cNvPr id="27" name="Text 23"/>
          <p:cNvSpPr txBox="1"/>
          <p:nvPr/>
        </p:nvSpPr>
        <p:spPr>
          <a:xfrm>
            <a:off x="6232779" y="36830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Planes de suscripción</a:t>
            </a:r>
            <a:endParaRPr lang="en-US" sz="1197" dirty="0"/>
          </a:p>
        </p:txBody>
      </p:sp>
      <p:sp>
        <p:nvSpPr>
          <p:cNvPr id="28" name="Text 24"/>
          <p:cNvSpPr txBox="1"/>
          <p:nvPr/>
        </p:nvSpPr>
        <p:spPr>
          <a:xfrm>
            <a:off x="6384798" y="39116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Free, Estándar ($9.99), Premium 4K ($15.99)</a:t>
            </a:r>
            <a:endParaRPr lang="en-US" sz="998" dirty="0"/>
          </a:p>
        </p:txBody>
      </p:sp>
      <p:sp>
        <p:nvSpPr>
          <p:cNvPr id="29" name="Text 25"/>
          <p:cNvSpPr txBox="1"/>
          <p:nvPr/>
        </p:nvSpPr>
        <p:spPr>
          <a:xfrm>
            <a:off x="6232779" y="4216400"/>
            <a:ext cx="54220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Métodos de pago</a:t>
            </a:r>
            <a:endParaRPr lang="en-US" sz="1197" dirty="0"/>
          </a:p>
        </p:txBody>
      </p:sp>
      <p:sp>
        <p:nvSpPr>
          <p:cNvPr id="30" name="Text 26"/>
          <p:cNvSpPr txBox="1"/>
          <p:nvPr/>
        </p:nvSpPr>
        <p:spPr>
          <a:xfrm>
            <a:off x="6384798" y="4445000"/>
            <a:ext cx="52699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de tarjetas con validación y almacenamiento seguro</a:t>
            </a:r>
            <a:endParaRPr lang="en-US" sz="998" dirty="0"/>
          </a:p>
        </p:txBody>
      </p:sp>
      <p:sp>
        <p:nvSpPr>
          <p:cNvPr id="31" name="Text 27"/>
          <p:cNvSpPr txBox="1"/>
          <p:nvPr/>
        </p:nvSpPr>
        <p:spPr>
          <a:xfrm>
            <a:off x="0" y="65278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Arquitectura del Sistema en Capas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405384" y="889000"/>
            <a:ext cx="1135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modular con separación clara de responsabilidades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405384" y="1414760"/>
            <a:ext cx="11350752" cy="711200"/>
          </a:xfrm>
          <a:prstGeom prst="roundRect">
            <a:avLst>
              <a:gd name="adj" fmla="val 27551"/>
            </a:avLst>
          </a:prstGeom>
          <a:solidFill>
            <a:srgbClr val="68B8D9"/>
          </a:solidFill>
          <a:ln w="12700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2067" y="1617960"/>
            <a:ext cx="304038" cy="30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8124" y="1490960"/>
            <a:ext cx="10692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 1: Handlers / API Layer</a:t>
            </a:r>
            <a:endParaRPr lang="en-US" sz="1496" dirty="0"/>
          </a:p>
        </p:txBody>
      </p:sp>
      <p:sp>
        <p:nvSpPr>
          <p:cNvPr id="7" name="Text 4"/>
          <p:cNvSpPr txBox="1"/>
          <p:nvPr/>
        </p:nvSpPr>
        <p:spPr>
          <a:xfrm>
            <a:off x="988124" y="1719560"/>
            <a:ext cx="1069200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 de entrada de la aplicación. Gestiona el menú interactivo y orquesta las interacciones.</a:t>
            </a:r>
            <a:endParaRPr lang="en-US" sz="998" dirty="0"/>
          </a:p>
        </p:txBody>
      </p:sp>
      <p:sp>
        <p:nvSpPr>
          <p:cNvPr id="8" name="Text 5"/>
          <p:cNvSpPr txBox="1"/>
          <p:nvPr/>
        </p:nvSpPr>
        <p:spPr>
          <a:xfrm>
            <a:off x="988124" y="1897360"/>
            <a:ext cx="10692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main.go • Menús interactivos • Control de flujo</a:t>
            </a:r>
            <a:endParaRPr lang="en-US" sz="798" dirty="0"/>
          </a:p>
        </p:txBody>
      </p:sp>
      <p:sp>
        <p:nvSpPr>
          <p:cNvPr id="9" name="Shape 6"/>
          <p:cNvSpPr/>
          <p:nvPr/>
        </p:nvSpPr>
        <p:spPr>
          <a:xfrm>
            <a:off x="405384" y="2415480"/>
            <a:ext cx="11350752" cy="711200"/>
          </a:xfrm>
          <a:prstGeom prst="roundRect">
            <a:avLst>
              <a:gd name="adj" fmla="val 27551"/>
            </a:avLst>
          </a:prstGeom>
          <a:solidFill>
            <a:srgbClr val="0077BE"/>
          </a:solidFill>
          <a:ln w="12700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2067" y="2618680"/>
            <a:ext cx="304038" cy="304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8124" y="2491680"/>
            <a:ext cx="10692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 2: Services Layer (Lógica de Negocio)</a:t>
            </a:r>
            <a:endParaRPr lang="en-US" sz="1496" dirty="0"/>
          </a:p>
        </p:txBody>
      </p:sp>
      <p:sp>
        <p:nvSpPr>
          <p:cNvPr id="12" name="Text 8"/>
          <p:cNvSpPr txBox="1"/>
          <p:nvPr/>
        </p:nvSpPr>
        <p:spPr>
          <a:xfrm>
            <a:off x="988124" y="2720280"/>
            <a:ext cx="1069200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 las reglas de negocio y coordina operaciones complejas.</a:t>
            </a:r>
            <a:endParaRPr lang="en-US" sz="998" dirty="0"/>
          </a:p>
        </p:txBody>
      </p:sp>
      <p:sp>
        <p:nvSpPr>
          <p:cNvPr id="13" name="Text 9"/>
          <p:cNvSpPr txBox="1"/>
          <p:nvPr/>
        </p:nvSpPr>
        <p:spPr>
          <a:xfrm>
            <a:off x="988124" y="2898080"/>
            <a:ext cx="10692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UserService • ContentService • SubscriptionService • PlaybackService</a:t>
            </a:r>
            <a:endParaRPr lang="en-US" sz="798" dirty="0"/>
          </a:p>
        </p:txBody>
      </p:sp>
      <p:sp>
        <p:nvSpPr>
          <p:cNvPr id="14" name="Shape 10"/>
          <p:cNvSpPr/>
          <p:nvPr/>
        </p:nvSpPr>
        <p:spPr>
          <a:xfrm>
            <a:off x="405384" y="3416201"/>
            <a:ext cx="11350752" cy="711200"/>
          </a:xfrm>
          <a:prstGeom prst="roundRect">
            <a:avLst>
              <a:gd name="adj" fmla="val 27551"/>
            </a:avLst>
          </a:prstGeom>
          <a:solidFill>
            <a:srgbClr val="68B8D9"/>
          </a:solidFill>
          <a:ln w="12700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2067" y="3619401"/>
            <a:ext cx="304038" cy="304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88124" y="3492401"/>
            <a:ext cx="10692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 3: Repositories Layer (Acceso a Datos)</a:t>
            </a:r>
            <a:endParaRPr lang="en-US" sz="1496" dirty="0"/>
          </a:p>
        </p:txBody>
      </p:sp>
      <p:sp>
        <p:nvSpPr>
          <p:cNvPr id="17" name="Text 12"/>
          <p:cNvSpPr txBox="1"/>
          <p:nvPr/>
        </p:nvSpPr>
        <p:spPr>
          <a:xfrm>
            <a:off x="988124" y="3721001"/>
            <a:ext cx="1069200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Abstracción de acceso a datos. Ejecuta queries SQL y mapea resultados.</a:t>
            </a:r>
            <a:endParaRPr lang="en-US" sz="998" dirty="0"/>
          </a:p>
        </p:txBody>
      </p:sp>
      <p:sp>
        <p:nvSpPr>
          <p:cNvPr id="18" name="Text 13"/>
          <p:cNvSpPr txBox="1"/>
          <p:nvPr/>
        </p:nvSpPr>
        <p:spPr>
          <a:xfrm>
            <a:off x="988124" y="3898801"/>
            <a:ext cx="10692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UserRepo • ContentRepo • PlaybackHistoryRepo • FavoriteRepo</a:t>
            </a:r>
            <a:endParaRPr lang="en-US" sz="798" dirty="0"/>
          </a:p>
        </p:txBody>
      </p:sp>
      <p:sp>
        <p:nvSpPr>
          <p:cNvPr id="19" name="Shape 14"/>
          <p:cNvSpPr/>
          <p:nvPr/>
        </p:nvSpPr>
        <p:spPr>
          <a:xfrm>
            <a:off x="405384" y="4416921"/>
            <a:ext cx="11350752" cy="711200"/>
          </a:xfrm>
          <a:prstGeom prst="roundRect">
            <a:avLst>
              <a:gd name="adj" fmla="val 27551"/>
            </a:avLst>
          </a:prstGeom>
          <a:solidFill>
            <a:srgbClr val="0077BE"/>
          </a:solidFill>
          <a:ln w="12700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2067" y="4620121"/>
            <a:ext cx="304038" cy="304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88124" y="4493121"/>
            <a:ext cx="10692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 4: Models Layer (Estructuras de Datos)</a:t>
            </a:r>
            <a:endParaRPr lang="en-US" sz="1496" dirty="0"/>
          </a:p>
        </p:txBody>
      </p:sp>
      <p:sp>
        <p:nvSpPr>
          <p:cNvPr id="22" name="Text 16"/>
          <p:cNvSpPr txBox="1"/>
          <p:nvPr/>
        </p:nvSpPr>
        <p:spPr>
          <a:xfrm>
            <a:off x="988124" y="4721721"/>
            <a:ext cx="1069200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las estructuras de datos sin comportamiento. Solo agrupación de datos.</a:t>
            </a:r>
            <a:endParaRPr lang="en-US" sz="998" dirty="0"/>
          </a:p>
        </p:txBody>
      </p:sp>
      <p:sp>
        <p:nvSpPr>
          <p:cNvPr id="23" name="Text 17"/>
          <p:cNvSpPr txBox="1"/>
          <p:nvPr/>
        </p:nvSpPr>
        <p:spPr>
          <a:xfrm>
            <a:off x="988124" y="4899521"/>
            <a:ext cx="10692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• Content • Plan • PaymentMethod • Rating</a:t>
            </a:r>
            <a:endParaRPr lang="en-US" sz="798" dirty="0"/>
          </a:p>
        </p:txBody>
      </p:sp>
      <p:sp>
        <p:nvSpPr>
          <p:cNvPr id="24" name="Shape 18"/>
          <p:cNvSpPr/>
          <p:nvPr/>
        </p:nvSpPr>
        <p:spPr>
          <a:xfrm>
            <a:off x="405384" y="5417641"/>
            <a:ext cx="11350752" cy="711200"/>
          </a:xfrm>
          <a:prstGeom prst="roundRect">
            <a:avLst>
              <a:gd name="adj" fmla="val 27551"/>
            </a:avLst>
          </a:prstGeom>
          <a:solidFill>
            <a:srgbClr val="68B8D9"/>
          </a:solidFill>
          <a:ln w="12700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2067" y="5620841"/>
            <a:ext cx="304038" cy="3048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8124" y="5493841"/>
            <a:ext cx="10692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 5: Database Layer (Persistencia)</a:t>
            </a:r>
            <a:endParaRPr lang="en-US" sz="1496" dirty="0"/>
          </a:p>
        </p:txBody>
      </p:sp>
      <p:sp>
        <p:nvSpPr>
          <p:cNvPr id="27" name="Text 20"/>
          <p:cNvSpPr txBox="1"/>
          <p:nvPr/>
        </p:nvSpPr>
        <p:spPr>
          <a:xfrm>
            <a:off x="988124" y="5722441"/>
            <a:ext cx="1069200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con esquema relacional. Migraciones automáticas al inicio.</a:t>
            </a:r>
            <a:endParaRPr lang="en-US" sz="998" dirty="0"/>
          </a:p>
        </p:txBody>
      </p:sp>
      <p:sp>
        <p:nvSpPr>
          <p:cNvPr id="28" name="Text 21"/>
          <p:cNvSpPr txBox="1"/>
          <p:nvPr/>
        </p:nvSpPr>
        <p:spPr>
          <a:xfrm>
            <a:off x="988124" y="5900241"/>
            <a:ext cx="10692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sdgestreaming.db • schema.sql • Relaciones FK</a:t>
            </a:r>
            <a:endParaRPr lang="en-US" sz="798" dirty="0"/>
          </a:p>
        </p:txBody>
      </p:sp>
      <p:sp>
        <p:nvSpPr>
          <p:cNvPr id="29" name="Text 22"/>
          <p:cNvSpPr txBox="1"/>
          <p:nvPr/>
        </p:nvSpPr>
        <p:spPr>
          <a:xfrm>
            <a:off x="0" y="65786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Tecnologías Utilizadas</a:t>
            </a:r>
            <a:endParaRPr lang="en-US" sz="299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30" y="990600"/>
            <a:ext cx="304038" cy="30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6778" y="1016000"/>
            <a:ext cx="16349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Stack Principal</a:t>
            </a:r>
            <a:endParaRPr lang="en-US" sz="1795" dirty="0"/>
          </a:p>
        </p:txBody>
      </p:sp>
      <p:sp>
        <p:nvSpPr>
          <p:cNvPr id="5" name="Shape 2"/>
          <p:cNvSpPr/>
          <p:nvPr/>
        </p:nvSpPr>
        <p:spPr>
          <a:xfrm>
            <a:off x="506730" y="1498600"/>
            <a:ext cx="5422011" cy="1562100"/>
          </a:xfrm>
          <a:prstGeom prst="roundRect">
            <a:avLst>
              <a:gd name="adj" fmla="val 5711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083" y="1720850"/>
            <a:ext cx="278702" cy="279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45131" y="1657350"/>
            <a:ext cx="17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(Golang)</a:t>
            </a:r>
            <a:endParaRPr lang="en-US" sz="1496" dirty="0"/>
          </a:p>
        </p:txBody>
      </p:sp>
      <p:sp>
        <p:nvSpPr>
          <p:cNvPr id="8" name="Text 4"/>
          <p:cNvSpPr txBox="1"/>
          <p:nvPr/>
        </p:nvSpPr>
        <p:spPr>
          <a:xfrm>
            <a:off x="1045131" y="1885950"/>
            <a:ext cx="174673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 principal del backend</a:t>
            </a:r>
            <a:endParaRPr lang="en-US" sz="998" dirty="0"/>
          </a:p>
        </p:txBody>
      </p:sp>
      <p:sp>
        <p:nvSpPr>
          <p:cNvPr id="9" name="Text 5"/>
          <p:cNvSpPr txBox="1"/>
          <p:nvPr/>
        </p:nvSpPr>
        <p:spPr>
          <a:xfrm>
            <a:off x="766429" y="21399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Compilado y eficiente</a:t>
            </a:r>
            <a:endParaRPr lang="en-US" sz="798" dirty="0"/>
          </a:p>
        </p:txBody>
      </p:sp>
      <p:sp>
        <p:nvSpPr>
          <p:cNvPr id="10" name="Text 6"/>
          <p:cNvSpPr txBox="1"/>
          <p:nvPr/>
        </p:nvSpPr>
        <p:spPr>
          <a:xfrm>
            <a:off x="766429" y="23431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Concurrencia nativa</a:t>
            </a:r>
            <a:endParaRPr lang="en-US" sz="798" dirty="0"/>
          </a:p>
        </p:txBody>
      </p:sp>
      <p:sp>
        <p:nvSpPr>
          <p:cNvPr id="11" name="Text 7"/>
          <p:cNvSpPr txBox="1"/>
          <p:nvPr/>
        </p:nvSpPr>
        <p:spPr>
          <a:xfrm>
            <a:off x="766429" y="25463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Tipado estático fuerte</a:t>
            </a:r>
            <a:endParaRPr lang="en-US" sz="798" dirty="0"/>
          </a:p>
        </p:txBody>
      </p:sp>
      <p:sp>
        <p:nvSpPr>
          <p:cNvPr id="12" name="Text 8"/>
          <p:cNvSpPr txBox="1"/>
          <p:nvPr/>
        </p:nvSpPr>
        <p:spPr>
          <a:xfrm>
            <a:off x="766429" y="27495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errores explícita</a:t>
            </a:r>
            <a:endParaRPr lang="en-US" sz="798" dirty="0"/>
          </a:p>
        </p:txBody>
      </p:sp>
      <p:sp>
        <p:nvSpPr>
          <p:cNvPr id="13" name="Shape 9"/>
          <p:cNvSpPr/>
          <p:nvPr/>
        </p:nvSpPr>
        <p:spPr>
          <a:xfrm>
            <a:off x="506730" y="3213100"/>
            <a:ext cx="5422011" cy="1562100"/>
          </a:xfrm>
          <a:prstGeom prst="roundRect">
            <a:avLst>
              <a:gd name="adj" fmla="val 5711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5083" y="3435350"/>
            <a:ext cx="278702" cy="279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45131" y="3371850"/>
            <a:ext cx="197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SQLite</a:t>
            </a:r>
            <a:endParaRPr lang="en-US" sz="1496" dirty="0"/>
          </a:p>
        </p:txBody>
      </p:sp>
      <p:sp>
        <p:nvSpPr>
          <p:cNvPr id="16" name="Text 11"/>
          <p:cNvSpPr txBox="1"/>
          <p:nvPr/>
        </p:nvSpPr>
        <p:spPr>
          <a:xfrm>
            <a:off x="1045131" y="3600450"/>
            <a:ext cx="197901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relacional embebida</a:t>
            </a:r>
            <a:endParaRPr lang="en-US" sz="998" dirty="0"/>
          </a:p>
        </p:txBody>
      </p:sp>
      <p:sp>
        <p:nvSpPr>
          <p:cNvPr id="17" name="Text 12"/>
          <p:cNvSpPr txBox="1"/>
          <p:nvPr/>
        </p:nvSpPr>
        <p:spPr>
          <a:xfrm>
            <a:off x="766429" y="38544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 necesidad de servidor</a:t>
            </a:r>
            <a:endParaRPr lang="en-US" sz="798" dirty="0"/>
          </a:p>
        </p:txBody>
      </p:sp>
      <p:sp>
        <p:nvSpPr>
          <p:cNvPr id="18" name="Text 13"/>
          <p:cNvSpPr txBox="1"/>
          <p:nvPr/>
        </p:nvSpPr>
        <p:spPr>
          <a:xfrm>
            <a:off x="766429" y="40576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Persistencia local</a:t>
            </a:r>
            <a:endParaRPr lang="en-US" sz="798" dirty="0"/>
          </a:p>
        </p:txBody>
      </p:sp>
      <p:sp>
        <p:nvSpPr>
          <p:cNvPr id="19" name="Text 14"/>
          <p:cNvSpPr txBox="1"/>
          <p:nvPr/>
        </p:nvSpPr>
        <p:spPr>
          <a:xfrm>
            <a:off x="766429" y="42608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Soporte completo de SQL</a:t>
            </a:r>
            <a:endParaRPr lang="en-US" sz="798" dirty="0"/>
          </a:p>
        </p:txBody>
      </p:sp>
      <p:sp>
        <p:nvSpPr>
          <p:cNvPr id="20" name="Text 15"/>
          <p:cNvSpPr txBox="1"/>
          <p:nvPr/>
        </p:nvSpPr>
        <p:spPr>
          <a:xfrm>
            <a:off x="766429" y="44640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Integridad referencial con FK</a:t>
            </a:r>
            <a:endParaRPr lang="en-US" sz="798" dirty="0"/>
          </a:p>
        </p:txBody>
      </p:sp>
      <p:sp>
        <p:nvSpPr>
          <p:cNvPr id="21" name="Shape 16"/>
          <p:cNvSpPr/>
          <p:nvPr/>
        </p:nvSpPr>
        <p:spPr>
          <a:xfrm>
            <a:off x="506730" y="4927600"/>
            <a:ext cx="5422011" cy="1358900"/>
          </a:xfrm>
          <a:prstGeom prst="roundRect">
            <a:avLst>
              <a:gd name="adj" fmla="val 7547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5083" y="5149850"/>
            <a:ext cx="278702" cy="279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45131" y="5086350"/>
            <a:ext cx="1689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Arquitectura REST</a:t>
            </a:r>
            <a:endParaRPr lang="en-US" sz="1496" dirty="0"/>
          </a:p>
        </p:txBody>
      </p:sp>
      <p:sp>
        <p:nvSpPr>
          <p:cNvPr id="24" name="Text 18"/>
          <p:cNvSpPr txBox="1"/>
          <p:nvPr/>
        </p:nvSpPr>
        <p:spPr>
          <a:xfrm>
            <a:off x="1045131" y="5314950"/>
            <a:ext cx="168943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 de diseño para APIs</a:t>
            </a:r>
            <a:endParaRPr lang="en-US" sz="998" dirty="0"/>
          </a:p>
        </p:txBody>
      </p:sp>
      <p:sp>
        <p:nvSpPr>
          <p:cNvPr id="25" name="Text 19"/>
          <p:cNvSpPr txBox="1"/>
          <p:nvPr/>
        </p:nvSpPr>
        <p:spPr>
          <a:xfrm>
            <a:off x="766429" y="55689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Separación cliente-servidor</a:t>
            </a:r>
            <a:endParaRPr lang="en-US" sz="798" dirty="0"/>
          </a:p>
        </p:txBody>
      </p:sp>
      <p:sp>
        <p:nvSpPr>
          <p:cNvPr id="26" name="Text 20"/>
          <p:cNvSpPr txBox="1"/>
          <p:nvPr/>
        </p:nvSpPr>
        <p:spPr>
          <a:xfrm>
            <a:off x="766429" y="57721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Stateless</a:t>
            </a:r>
            <a:endParaRPr lang="en-US" sz="798" dirty="0"/>
          </a:p>
        </p:txBody>
      </p:sp>
      <p:sp>
        <p:nvSpPr>
          <p:cNvPr id="27" name="Text 21"/>
          <p:cNvSpPr txBox="1"/>
          <p:nvPr/>
        </p:nvSpPr>
        <p:spPr>
          <a:xfrm>
            <a:off x="766429" y="5975350"/>
            <a:ext cx="500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Interfaz uniforme</a:t>
            </a:r>
            <a:endParaRPr lang="en-US" sz="798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32779" y="990600"/>
            <a:ext cx="304038" cy="3048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612827" y="1016000"/>
            <a:ext cx="32572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Dependencias y Herramientas</a:t>
            </a:r>
            <a:endParaRPr lang="en-US" sz="1795" dirty="0"/>
          </a:p>
        </p:txBody>
      </p:sp>
      <p:sp>
        <p:nvSpPr>
          <p:cNvPr id="30" name="Shape 23"/>
          <p:cNvSpPr/>
          <p:nvPr/>
        </p:nvSpPr>
        <p:spPr>
          <a:xfrm>
            <a:off x="6232779" y="1498600"/>
            <a:ext cx="5422011" cy="901700"/>
          </a:xfrm>
          <a:prstGeom prst="roundRect">
            <a:avLst>
              <a:gd name="adj" fmla="val 17139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391132" y="1720850"/>
            <a:ext cx="253365" cy="2540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45843" y="1657350"/>
            <a:ext cx="4750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golang.org/x/crypto/bcrypt</a:t>
            </a:r>
            <a:endParaRPr lang="en-US" sz="1197" dirty="0"/>
          </a:p>
        </p:txBody>
      </p:sp>
      <p:sp>
        <p:nvSpPr>
          <p:cNvPr id="33" name="Text 25"/>
          <p:cNvSpPr txBox="1"/>
          <p:nvPr/>
        </p:nvSpPr>
        <p:spPr>
          <a:xfrm>
            <a:off x="6745843" y="1860550"/>
            <a:ext cx="475059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Hashing seguro de contraseñas</a:t>
            </a:r>
            <a:endParaRPr lang="en-US" sz="998" dirty="0"/>
          </a:p>
        </p:txBody>
      </p:sp>
      <p:sp>
        <p:nvSpPr>
          <p:cNvPr id="34" name="Text 26"/>
          <p:cNvSpPr txBox="1"/>
          <p:nvPr/>
        </p:nvSpPr>
        <p:spPr>
          <a:xfrm>
            <a:off x="6391132" y="2089150"/>
            <a:ext cx="5105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bcrypt con salt automático y factor de costo configurable</a:t>
            </a:r>
            <a:endParaRPr lang="en-US" sz="798" dirty="0"/>
          </a:p>
        </p:txBody>
      </p:sp>
      <p:sp>
        <p:nvSpPr>
          <p:cNvPr id="35" name="Shape 27"/>
          <p:cNvSpPr/>
          <p:nvPr/>
        </p:nvSpPr>
        <p:spPr>
          <a:xfrm>
            <a:off x="6232779" y="2552700"/>
            <a:ext cx="5422011" cy="901700"/>
          </a:xfrm>
          <a:prstGeom prst="roundRect">
            <a:avLst>
              <a:gd name="adj" fmla="val 17139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91132" y="2774950"/>
            <a:ext cx="253365" cy="2540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745843" y="2711450"/>
            <a:ext cx="4750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github.com/mattn/go-sqlite3</a:t>
            </a:r>
            <a:endParaRPr lang="en-US" sz="1197" dirty="0"/>
          </a:p>
        </p:txBody>
      </p:sp>
      <p:sp>
        <p:nvSpPr>
          <p:cNvPr id="38" name="Text 29"/>
          <p:cNvSpPr txBox="1"/>
          <p:nvPr/>
        </p:nvSpPr>
        <p:spPr>
          <a:xfrm>
            <a:off x="6745843" y="2914650"/>
            <a:ext cx="475059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SQLite3 para Go</a:t>
            </a:r>
            <a:endParaRPr lang="en-US" sz="998" dirty="0"/>
          </a:p>
        </p:txBody>
      </p:sp>
      <p:sp>
        <p:nvSpPr>
          <p:cNvPr id="39" name="Text 30"/>
          <p:cNvSpPr txBox="1"/>
          <p:nvPr/>
        </p:nvSpPr>
        <p:spPr>
          <a:xfrm>
            <a:off x="6391132" y="3143250"/>
            <a:ext cx="5105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Requiere compilador C (gcc). Implementa database/sql interface</a:t>
            </a:r>
            <a:endParaRPr lang="en-US" sz="798" dirty="0"/>
          </a:p>
        </p:txBody>
      </p:sp>
      <p:sp>
        <p:nvSpPr>
          <p:cNvPr id="40" name="Shape 31"/>
          <p:cNvSpPr/>
          <p:nvPr/>
        </p:nvSpPr>
        <p:spPr>
          <a:xfrm>
            <a:off x="6232779" y="3606800"/>
            <a:ext cx="5422011" cy="901700"/>
          </a:xfrm>
          <a:prstGeom prst="roundRect">
            <a:avLst>
              <a:gd name="adj" fmla="val 17139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91132" y="3829050"/>
            <a:ext cx="253365" cy="2540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745843" y="3765550"/>
            <a:ext cx="4750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 + GitHub</a:t>
            </a:r>
            <a:endParaRPr lang="en-US" sz="1197" dirty="0"/>
          </a:p>
        </p:txBody>
      </p:sp>
      <p:sp>
        <p:nvSpPr>
          <p:cNvPr id="43" name="Text 33"/>
          <p:cNvSpPr txBox="1"/>
          <p:nvPr/>
        </p:nvSpPr>
        <p:spPr>
          <a:xfrm>
            <a:off x="6745843" y="3968750"/>
            <a:ext cx="475059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versiones</a:t>
            </a:r>
            <a:endParaRPr lang="en-US" sz="998" dirty="0"/>
          </a:p>
        </p:txBody>
      </p:sp>
      <p:sp>
        <p:nvSpPr>
          <p:cNvPr id="44" name="Text 34"/>
          <p:cNvSpPr txBox="1"/>
          <p:nvPr/>
        </p:nvSpPr>
        <p:spPr>
          <a:xfrm>
            <a:off x="6391132" y="4197350"/>
            <a:ext cx="5105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cambios y colaboración en el código fuente</a:t>
            </a:r>
            <a:endParaRPr lang="en-US" sz="798" dirty="0"/>
          </a:p>
        </p:txBody>
      </p:sp>
      <p:sp>
        <p:nvSpPr>
          <p:cNvPr id="45" name="Shape 35"/>
          <p:cNvSpPr/>
          <p:nvPr/>
        </p:nvSpPr>
        <p:spPr>
          <a:xfrm>
            <a:off x="6232779" y="4660900"/>
            <a:ext cx="5422011" cy="901700"/>
          </a:xfrm>
          <a:prstGeom prst="roundRect">
            <a:avLst>
              <a:gd name="adj" fmla="val 17139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391132" y="4883150"/>
            <a:ext cx="253365" cy="2540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745843" y="4819650"/>
            <a:ext cx="4750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Visual Studio Code</a:t>
            </a:r>
            <a:endParaRPr lang="en-US" sz="1197" dirty="0"/>
          </a:p>
        </p:txBody>
      </p:sp>
      <p:sp>
        <p:nvSpPr>
          <p:cNvPr id="48" name="Text 37"/>
          <p:cNvSpPr txBox="1"/>
          <p:nvPr/>
        </p:nvSpPr>
        <p:spPr>
          <a:xfrm>
            <a:off x="6745843" y="5022850"/>
            <a:ext cx="475059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de desarrollo</a:t>
            </a:r>
            <a:endParaRPr lang="en-US" sz="998" dirty="0"/>
          </a:p>
        </p:txBody>
      </p:sp>
      <p:sp>
        <p:nvSpPr>
          <p:cNvPr id="49" name="Text 38"/>
          <p:cNvSpPr txBox="1"/>
          <p:nvPr/>
        </p:nvSpPr>
        <p:spPr>
          <a:xfrm>
            <a:off x="6391132" y="5251450"/>
            <a:ext cx="5105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 con terminal integrada y soporte Go</a:t>
            </a:r>
            <a:endParaRPr lang="en-US" sz="798" dirty="0"/>
          </a:p>
        </p:txBody>
      </p:sp>
      <p:sp>
        <p:nvSpPr>
          <p:cNvPr id="50" name="Shape 39"/>
          <p:cNvSpPr/>
          <p:nvPr/>
        </p:nvSpPr>
        <p:spPr>
          <a:xfrm>
            <a:off x="6232779" y="5715000"/>
            <a:ext cx="5422011" cy="381000"/>
          </a:xfrm>
          <a:prstGeom prst="roundRect">
            <a:avLst>
              <a:gd name="adj" fmla="val 64000"/>
            </a:avLst>
          </a:prstGeom>
          <a:solidFill>
            <a:srgbClr val="68B8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334125" y="5842000"/>
            <a:ext cx="152019" cy="15240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6562154" y="5816600"/>
            <a:ext cx="32921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Nota: Se requiere compilador C (MSYS2 en Windows) para go-sqlite3</a:t>
            </a:r>
            <a:endParaRPr lang="en-US" sz="798" dirty="0"/>
          </a:p>
        </p:txBody>
      </p:sp>
      <p:sp>
        <p:nvSpPr>
          <p:cNvPr id="53" name="Text 41"/>
          <p:cNvSpPr txBox="1"/>
          <p:nvPr/>
        </p:nvSpPr>
        <p:spPr>
          <a:xfrm>
            <a:off x="0" y="65278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de Datos y Esquema</a:t>
            </a:r>
            <a:endParaRPr lang="en-US" sz="299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5392" y="1066800"/>
            <a:ext cx="304038" cy="30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790776" y="990600"/>
            <a:ext cx="49853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Esquema Relacional SQLite</a:t>
            </a:r>
            <a:endParaRPr lang="en-US" sz="1795" dirty="0"/>
          </a:p>
        </p:txBody>
      </p:sp>
      <p:sp>
        <p:nvSpPr>
          <p:cNvPr id="5" name="Text 2"/>
          <p:cNvSpPr txBox="1"/>
          <p:nvPr/>
        </p:nvSpPr>
        <p:spPr>
          <a:xfrm>
            <a:off x="3790776" y="1244600"/>
            <a:ext cx="49853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tablas principales con integridad referencial (Foreign Keys) y constraints</a:t>
            </a:r>
            <a:endParaRPr lang="en-US" sz="1197" dirty="0"/>
          </a:p>
        </p:txBody>
      </p:sp>
      <p:sp>
        <p:nvSpPr>
          <p:cNvPr id="6" name="Text 3"/>
          <p:cNvSpPr txBox="1"/>
          <p:nvPr/>
        </p:nvSpPr>
        <p:spPr>
          <a:xfrm>
            <a:off x="2479810" y="1701800"/>
            <a:ext cx="19384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Migraciones automáticas al inicio</a:t>
            </a:r>
            <a:endParaRPr lang="en-US" sz="998" dirty="0"/>
          </a:p>
        </p:txBody>
      </p:sp>
      <p:sp>
        <p:nvSpPr>
          <p:cNvPr id="7" name="Text 4"/>
          <p:cNvSpPr txBox="1"/>
          <p:nvPr/>
        </p:nvSpPr>
        <p:spPr>
          <a:xfrm>
            <a:off x="4570269" y="1701800"/>
            <a:ext cx="3295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998" dirty="0"/>
          </a:p>
        </p:txBody>
      </p:sp>
      <p:sp>
        <p:nvSpPr>
          <p:cNvPr id="8" name="Text 5"/>
          <p:cNvSpPr txBox="1"/>
          <p:nvPr/>
        </p:nvSpPr>
        <p:spPr>
          <a:xfrm>
            <a:off x="4755245" y="1701800"/>
            <a:ext cx="150900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Índices para optimización</a:t>
            </a:r>
            <a:endParaRPr lang="en-US" sz="998" dirty="0"/>
          </a:p>
        </p:txBody>
      </p:sp>
      <p:sp>
        <p:nvSpPr>
          <p:cNvPr id="9" name="Text 6"/>
          <p:cNvSpPr txBox="1"/>
          <p:nvPr/>
        </p:nvSpPr>
        <p:spPr>
          <a:xfrm>
            <a:off x="6416271" y="1701800"/>
            <a:ext cx="3295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998" dirty="0"/>
          </a:p>
        </p:txBody>
      </p:sp>
      <p:sp>
        <p:nvSpPr>
          <p:cNvPr id="10" name="Text 7"/>
          <p:cNvSpPr txBox="1"/>
          <p:nvPr/>
        </p:nvSpPr>
        <p:spPr>
          <a:xfrm>
            <a:off x="6601247" y="1701800"/>
            <a:ext cx="148060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Timestamps automáticos</a:t>
            </a:r>
            <a:endParaRPr lang="en-US" sz="998" dirty="0"/>
          </a:p>
        </p:txBody>
      </p:sp>
      <p:sp>
        <p:nvSpPr>
          <p:cNvPr id="11" name="Text 8"/>
          <p:cNvSpPr txBox="1"/>
          <p:nvPr/>
        </p:nvSpPr>
        <p:spPr>
          <a:xfrm>
            <a:off x="8233868" y="1701800"/>
            <a:ext cx="3295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998" dirty="0"/>
          </a:p>
        </p:txBody>
      </p:sp>
      <p:sp>
        <p:nvSpPr>
          <p:cNvPr id="12" name="Text 9"/>
          <p:cNvSpPr txBox="1"/>
          <p:nvPr/>
        </p:nvSpPr>
        <p:spPr>
          <a:xfrm>
            <a:off x="8418844" y="1701800"/>
            <a:ext cx="126276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Cascadas en deletes</a:t>
            </a:r>
            <a:endParaRPr lang="en-US" sz="998" dirty="0"/>
          </a:p>
        </p:txBody>
      </p:sp>
      <p:sp>
        <p:nvSpPr>
          <p:cNvPr id="13" name="Shape 10"/>
          <p:cNvSpPr/>
          <p:nvPr/>
        </p:nvSpPr>
        <p:spPr>
          <a:xfrm>
            <a:off x="408551" y="2136775"/>
            <a:ext cx="1778306" cy="412750"/>
          </a:xfrm>
          <a:prstGeom prst="rect">
            <a:avLst/>
          </a:prstGeom>
          <a:solidFill>
            <a:srgbClr val="68B8D9">
              <a:alpha val="2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13064" y="2241550"/>
            <a:ext cx="15692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Tabla</a:t>
            </a:r>
            <a:endParaRPr lang="en-US" sz="1197" dirty="0"/>
          </a:p>
        </p:txBody>
      </p:sp>
      <p:sp>
        <p:nvSpPr>
          <p:cNvPr id="15" name="Shape 12"/>
          <p:cNvSpPr/>
          <p:nvPr/>
        </p:nvSpPr>
        <p:spPr>
          <a:xfrm>
            <a:off x="2186857" y="2136775"/>
            <a:ext cx="5604315" cy="412750"/>
          </a:xfrm>
          <a:prstGeom prst="rect">
            <a:avLst/>
          </a:prstGeom>
          <a:solidFill>
            <a:srgbClr val="68B8D9">
              <a:alpha val="2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291370" y="2241550"/>
            <a:ext cx="539528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Campos Principales</a:t>
            </a:r>
            <a:endParaRPr lang="en-US" sz="1197" dirty="0"/>
          </a:p>
        </p:txBody>
      </p:sp>
      <p:sp>
        <p:nvSpPr>
          <p:cNvPr id="17" name="Shape 14"/>
          <p:cNvSpPr/>
          <p:nvPr/>
        </p:nvSpPr>
        <p:spPr>
          <a:xfrm>
            <a:off x="7791172" y="2136775"/>
            <a:ext cx="3961797" cy="412750"/>
          </a:xfrm>
          <a:prstGeom prst="rect">
            <a:avLst/>
          </a:prstGeom>
          <a:solidFill>
            <a:srgbClr val="68B8D9">
              <a:alpha val="2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895685" y="2241550"/>
            <a:ext cx="375277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Propósito</a:t>
            </a:r>
            <a:endParaRPr lang="en-US" sz="1197" dirty="0"/>
          </a:p>
        </p:txBody>
      </p:sp>
      <p:sp>
        <p:nvSpPr>
          <p:cNvPr id="19" name="Shape 16"/>
          <p:cNvSpPr/>
          <p:nvPr/>
        </p:nvSpPr>
        <p:spPr>
          <a:xfrm>
            <a:off x="408551" y="2549525"/>
            <a:ext cx="1778306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13064" y="265430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</a:t>
            </a:r>
            <a:endParaRPr lang="en-US" sz="798" dirty="0"/>
          </a:p>
        </p:txBody>
      </p:sp>
      <p:sp>
        <p:nvSpPr>
          <p:cNvPr id="21" name="Shape 18"/>
          <p:cNvSpPr/>
          <p:nvPr/>
        </p:nvSpPr>
        <p:spPr>
          <a:xfrm>
            <a:off x="2186857" y="2549525"/>
            <a:ext cx="5604315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291370" y="265430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name, price, max_quality, max_devices</a:t>
            </a:r>
            <a:endParaRPr lang="en-US" sz="798" dirty="0"/>
          </a:p>
        </p:txBody>
      </p:sp>
      <p:sp>
        <p:nvSpPr>
          <p:cNvPr id="23" name="Shape 20"/>
          <p:cNvSpPr/>
          <p:nvPr/>
        </p:nvSpPr>
        <p:spPr>
          <a:xfrm>
            <a:off x="7791172" y="2549525"/>
            <a:ext cx="3961797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895685" y="265430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de suscripción (Free, Estándar, Premium 4K)</a:t>
            </a:r>
            <a:endParaRPr lang="en-US" sz="798" dirty="0"/>
          </a:p>
        </p:txBody>
      </p:sp>
      <p:sp>
        <p:nvSpPr>
          <p:cNvPr id="25" name="Shape 22"/>
          <p:cNvSpPr/>
          <p:nvPr/>
        </p:nvSpPr>
        <p:spPr>
          <a:xfrm>
            <a:off x="408551" y="2911475"/>
            <a:ext cx="1778306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13064" y="301625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798" dirty="0"/>
          </a:p>
        </p:txBody>
      </p:sp>
      <p:sp>
        <p:nvSpPr>
          <p:cNvPr id="27" name="Shape 24"/>
          <p:cNvSpPr/>
          <p:nvPr/>
        </p:nvSpPr>
        <p:spPr>
          <a:xfrm>
            <a:off x="2186857" y="2911475"/>
            <a:ext cx="5604315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2291370" y="301625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name, email, password_hash, age, plan_id, age_rating, is_admin</a:t>
            </a:r>
            <a:endParaRPr lang="en-US" sz="798" dirty="0"/>
          </a:p>
        </p:txBody>
      </p:sp>
      <p:sp>
        <p:nvSpPr>
          <p:cNvPr id="29" name="Shape 26"/>
          <p:cNvSpPr/>
          <p:nvPr/>
        </p:nvSpPr>
        <p:spPr>
          <a:xfrm>
            <a:off x="7791172" y="2911475"/>
            <a:ext cx="3961797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895685" y="301625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de usuarios registrados</a:t>
            </a:r>
            <a:endParaRPr lang="en-US" sz="798" dirty="0"/>
          </a:p>
        </p:txBody>
      </p:sp>
      <p:sp>
        <p:nvSpPr>
          <p:cNvPr id="31" name="Shape 28"/>
          <p:cNvSpPr/>
          <p:nvPr/>
        </p:nvSpPr>
        <p:spPr>
          <a:xfrm>
            <a:off x="408551" y="3273425"/>
            <a:ext cx="1778306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13064" y="337820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payment_methods</a:t>
            </a:r>
            <a:endParaRPr lang="en-US" sz="798" dirty="0"/>
          </a:p>
        </p:txBody>
      </p:sp>
      <p:sp>
        <p:nvSpPr>
          <p:cNvPr id="33" name="Shape 30"/>
          <p:cNvSpPr/>
          <p:nvPr/>
        </p:nvSpPr>
        <p:spPr>
          <a:xfrm>
            <a:off x="2186857" y="3273425"/>
            <a:ext cx="5604315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2291370" y="337820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user_id, card_holder_name, card_number_last4, expiry_month, expiry_year</a:t>
            </a:r>
            <a:endParaRPr lang="en-US" sz="798" dirty="0"/>
          </a:p>
        </p:txBody>
      </p:sp>
      <p:sp>
        <p:nvSpPr>
          <p:cNvPr id="35" name="Shape 32"/>
          <p:cNvSpPr/>
          <p:nvPr/>
        </p:nvSpPr>
        <p:spPr>
          <a:xfrm>
            <a:off x="7791172" y="3273425"/>
            <a:ext cx="3961797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7895685" y="337820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de pago guardados</a:t>
            </a:r>
            <a:endParaRPr lang="en-US" sz="798" dirty="0"/>
          </a:p>
        </p:txBody>
      </p:sp>
      <p:sp>
        <p:nvSpPr>
          <p:cNvPr id="37" name="Shape 34"/>
          <p:cNvSpPr/>
          <p:nvPr/>
        </p:nvSpPr>
        <p:spPr>
          <a:xfrm>
            <a:off x="408551" y="3635375"/>
            <a:ext cx="1778306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13064" y="374015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audiovisual_content</a:t>
            </a:r>
            <a:endParaRPr lang="en-US" sz="798" dirty="0"/>
          </a:p>
        </p:txBody>
      </p:sp>
      <p:sp>
        <p:nvSpPr>
          <p:cNvPr id="39" name="Shape 36"/>
          <p:cNvSpPr/>
          <p:nvPr/>
        </p:nvSpPr>
        <p:spPr>
          <a:xfrm>
            <a:off x="2186857" y="3635375"/>
            <a:ext cx="5604315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2291370" y="374015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title, type, genre, duration, age_rating, synopsis, director, average_rating</a:t>
            </a:r>
            <a:endParaRPr lang="en-US" sz="798" dirty="0"/>
          </a:p>
        </p:txBody>
      </p:sp>
      <p:sp>
        <p:nvSpPr>
          <p:cNvPr id="41" name="Shape 38"/>
          <p:cNvSpPr/>
          <p:nvPr/>
        </p:nvSpPr>
        <p:spPr>
          <a:xfrm>
            <a:off x="7791172" y="3635375"/>
            <a:ext cx="3961797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7895685" y="374015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de video (películas, series, documentales)</a:t>
            </a:r>
            <a:endParaRPr lang="en-US" sz="798" dirty="0"/>
          </a:p>
        </p:txBody>
      </p:sp>
      <p:sp>
        <p:nvSpPr>
          <p:cNvPr id="43" name="Shape 40"/>
          <p:cNvSpPr/>
          <p:nvPr/>
        </p:nvSpPr>
        <p:spPr>
          <a:xfrm>
            <a:off x="408551" y="3997325"/>
            <a:ext cx="1778306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513064" y="410210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audio_content</a:t>
            </a:r>
            <a:endParaRPr lang="en-US" sz="798" dirty="0"/>
          </a:p>
        </p:txBody>
      </p:sp>
      <p:sp>
        <p:nvSpPr>
          <p:cNvPr id="45" name="Shape 42"/>
          <p:cNvSpPr/>
          <p:nvPr/>
        </p:nvSpPr>
        <p:spPr>
          <a:xfrm>
            <a:off x="2186857" y="3997325"/>
            <a:ext cx="5604315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 txBox="1"/>
          <p:nvPr/>
        </p:nvSpPr>
        <p:spPr>
          <a:xfrm>
            <a:off x="2291370" y="410210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title, type, genre, duration, age_rating, artist, album, average_rating</a:t>
            </a:r>
            <a:endParaRPr lang="en-US" sz="798" dirty="0"/>
          </a:p>
        </p:txBody>
      </p:sp>
      <p:sp>
        <p:nvSpPr>
          <p:cNvPr id="47" name="Shape 44"/>
          <p:cNvSpPr/>
          <p:nvPr/>
        </p:nvSpPr>
        <p:spPr>
          <a:xfrm>
            <a:off x="7791172" y="3997325"/>
            <a:ext cx="3961797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7895685" y="410210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de audio (canciones, podcasts, audiolibros)</a:t>
            </a:r>
            <a:endParaRPr lang="en-US" sz="798" dirty="0"/>
          </a:p>
        </p:txBody>
      </p:sp>
      <p:sp>
        <p:nvSpPr>
          <p:cNvPr id="49" name="Shape 46"/>
          <p:cNvSpPr/>
          <p:nvPr/>
        </p:nvSpPr>
        <p:spPr>
          <a:xfrm>
            <a:off x="408551" y="4359275"/>
            <a:ext cx="1778306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513064" y="446405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user_ratings</a:t>
            </a:r>
            <a:endParaRPr lang="en-US" sz="798" dirty="0"/>
          </a:p>
        </p:txBody>
      </p:sp>
      <p:sp>
        <p:nvSpPr>
          <p:cNvPr id="51" name="Shape 48"/>
          <p:cNvSpPr/>
          <p:nvPr/>
        </p:nvSpPr>
        <p:spPr>
          <a:xfrm>
            <a:off x="2186857" y="4359275"/>
            <a:ext cx="5604315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2291370" y="446405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user_id, content_id, content_type, rating</a:t>
            </a:r>
            <a:endParaRPr lang="en-US" sz="798" dirty="0"/>
          </a:p>
        </p:txBody>
      </p:sp>
      <p:sp>
        <p:nvSpPr>
          <p:cNvPr id="53" name="Shape 50"/>
          <p:cNvSpPr/>
          <p:nvPr/>
        </p:nvSpPr>
        <p:spPr>
          <a:xfrm>
            <a:off x="7791172" y="4359275"/>
            <a:ext cx="3961797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7895685" y="446405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Calificaciones de usuarios (1.0-10.0)</a:t>
            </a:r>
            <a:endParaRPr lang="en-US" sz="798" dirty="0"/>
          </a:p>
        </p:txBody>
      </p:sp>
      <p:sp>
        <p:nvSpPr>
          <p:cNvPr id="55" name="Shape 52"/>
          <p:cNvSpPr/>
          <p:nvPr/>
        </p:nvSpPr>
        <p:spPr>
          <a:xfrm>
            <a:off x="408551" y="4721225"/>
            <a:ext cx="1778306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513064" y="482600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playback_history</a:t>
            </a:r>
            <a:endParaRPr lang="en-US" sz="798" dirty="0"/>
          </a:p>
        </p:txBody>
      </p:sp>
      <p:sp>
        <p:nvSpPr>
          <p:cNvPr id="57" name="Shape 54"/>
          <p:cNvSpPr/>
          <p:nvPr/>
        </p:nvSpPr>
        <p:spPr>
          <a:xfrm>
            <a:off x="2186857" y="4721225"/>
            <a:ext cx="5604315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 txBox="1"/>
          <p:nvPr/>
        </p:nvSpPr>
        <p:spPr>
          <a:xfrm>
            <a:off x="2291370" y="482600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user_id, content_id, content_type, progress_seconds, watched_at</a:t>
            </a:r>
            <a:endParaRPr lang="en-US" sz="798" dirty="0"/>
          </a:p>
        </p:txBody>
      </p:sp>
      <p:sp>
        <p:nvSpPr>
          <p:cNvPr id="59" name="Shape 56"/>
          <p:cNvSpPr/>
          <p:nvPr/>
        </p:nvSpPr>
        <p:spPr>
          <a:xfrm>
            <a:off x="7791172" y="4721225"/>
            <a:ext cx="3961797" cy="361950"/>
          </a:xfrm>
          <a:prstGeom prst="rect">
            <a:avLst/>
          </a:prstGeom>
          <a:solidFill>
            <a:srgbClr val="0077BE">
              <a:alpha val="5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 txBox="1"/>
          <p:nvPr/>
        </p:nvSpPr>
        <p:spPr>
          <a:xfrm>
            <a:off x="7895685" y="482600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de reproducción con progreso</a:t>
            </a:r>
            <a:endParaRPr lang="en-US" sz="798" dirty="0"/>
          </a:p>
        </p:txBody>
      </p:sp>
      <p:sp>
        <p:nvSpPr>
          <p:cNvPr id="61" name="Shape 58"/>
          <p:cNvSpPr/>
          <p:nvPr/>
        </p:nvSpPr>
        <p:spPr>
          <a:xfrm>
            <a:off x="408551" y="5083175"/>
            <a:ext cx="1778306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513064" y="5187950"/>
            <a:ext cx="1569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favorites</a:t>
            </a:r>
            <a:endParaRPr lang="en-US" sz="798" dirty="0"/>
          </a:p>
        </p:txBody>
      </p:sp>
      <p:sp>
        <p:nvSpPr>
          <p:cNvPr id="63" name="Shape 60"/>
          <p:cNvSpPr/>
          <p:nvPr/>
        </p:nvSpPr>
        <p:spPr>
          <a:xfrm>
            <a:off x="2186857" y="5083175"/>
            <a:ext cx="5604315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2291370" y="5187950"/>
            <a:ext cx="539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user_id, content_id, content_type, added_at</a:t>
            </a:r>
            <a:endParaRPr lang="en-US" sz="798" dirty="0"/>
          </a:p>
        </p:txBody>
      </p:sp>
      <p:sp>
        <p:nvSpPr>
          <p:cNvPr id="65" name="Shape 62"/>
          <p:cNvSpPr/>
          <p:nvPr/>
        </p:nvSpPr>
        <p:spPr>
          <a:xfrm>
            <a:off x="7791172" y="5083175"/>
            <a:ext cx="3961797" cy="361950"/>
          </a:xfrm>
          <a:prstGeom prst="rect">
            <a:avLst/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7895685" y="5187950"/>
            <a:ext cx="3752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favoritos (Mi Lista)</a:t>
            </a:r>
            <a:endParaRPr lang="en-US" sz="798" dirty="0"/>
          </a:p>
        </p:txBody>
      </p:sp>
      <p:sp>
        <p:nvSpPr>
          <p:cNvPr id="67" name="Text 64"/>
          <p:cNvSpPr txBox="1"/>
          <p:nvPr/>
        </p:nvSpPr>
        <p:spPr>
          <a:xfrm>
            <a:off x="0" y="65278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32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Gestión de Usuarios y Suscripciones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405384" y="685800"/>
            <a:ext cx="113507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Sistema de Usuarios y Perfiles</a:t>
            </a:r>
            <a:endParaRPr lang="en-US" sz="1795" dirty="0"/>
          </a:p>
        </p:txBody>
      </p:sp>
      <p:sp>
        <p:nvSpPr>
          <p:cNvPr id="4" name="Shape 2"/>
          <p:cNvSpPr/>
          <p:nvPr/>
        </p:nvSpPr>
        <p:spPr>
          <a:xfrm>
            <a:off x="405384" y="990600"/>
            <a:ext cx="5574030" cy="1282700"/>
          </a:xfrm>
          <a:prstGeom prst="roundRect">
            <a:avLst>
              <a:gd name="adj" fmla="val 8470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737" y="1149350"/>
            <a:ext cx="228029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3112" y="1149350"/>
            <a:ext cx="195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Autenticación Segura</a:t>
            </a:r>
            <a:endParaRPr lang="en-US" sz="1496" dirty="0"/>
          </a:p>
        </p:txBody>
      </p:sp>
      <p:sp>
        <p:nvSpPr>
          <p:cNvPr id="7" name="Shape 4"/>
          <p:cNvSpPr/>
          <p:nvPr/>
        </p:nvSpPr>
        <p:spPr>
          <a:xfrm>
            <a:off x="6182106" y="990600"/>
            <a:ext cx="5574030" cy="1282700"/>
          </a:xfrm>
          <a:prstGeom prst="roundRect">
            <a:avLst>
              <a:gd name="adj" fmla="val 8470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0459" y="1149350"/>
            <a:ext cx="228029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69834" y="1149350"/>
            <a:ext cx="15629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Perfiles Múltiples</a:t>
            </a:r>
            <a:endParaRPr lang="en-US" sz="1496" dirty="0"/>
          </a:p>
        </p:txBody>
      </p:sp>
      <p:sp>
        <p:nvSpPr>
          <p:cNvPr id="10" name="Text 6"/>
          <p:cNvSpPr txBox="1"/>
          <p:nvPr/>
        </p:nvSpPr>
        <p:spPr>
          <a:xfrm>
            <a:off x="405384" y="2374900"/>
            <a:ext cx="113507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Planes de Suscripción</a:t>
            </a:r>
            <a:endParaRPr lang="en-US" sz="1795" dirty="0"/>
          </a:p>
        </p:txBody>
      </p:sp>
      <p:sp>
        <p:nvSpPr>
          <p:cNvPr id="11" name="Shape 7"/>
          <p:cNvSpPr/>
          <p:nvPr/>
        </p:nvSpPr>
        <p:spPr>
          <a:xfrm>
            <a:off x="405384" y="2882900"/>
            <a:ext cx="3648456" cy="3416300"/>
          </a:xfrm>
          <a:prstGeom prst="roundRect">
            <a:avLst>
              <a:gd name="adj" fmla="val 1194"/>
            </a:avLst>
          </a:prstGeom>
          <a:solidFill>
            <a:srgbClr val="0077BE">
              <a:alpha val="10000"/>
            </a:srgbClr>
          </a:solidFill>
          <a:ln w="12668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77593" y="3048000"/>
            <a:ext cx="304038" cy="304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88717" y="3403600"/>
            <a:ext cx="4816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Free</a:t>
            </a:r>
            <a:endParaRPr lang="en-US" sz="1795" dirty="0"/>
          </a:p>
        </p:txBody>
      </p:sp>
      <p:sp>
        <p:nvSpPr>
          <p:cNvPr id="14" name="Text 9"/>
          <p:cNvSpPr txBox="1"/>
          <p:nvPr/>
        </p:nvSpPr>
        <p:spPr>
          <a:xfrm>
            <a:off x="1502672" y="3683000"/>
            <a:ext cx="1453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94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$0.00/mes</a:t>
            </a:r>
            <a:endParaRPr lang="en-US" sz="2394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0071" y="4114800"/>
            <a:ext cx="152019" cy="152400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0071" y="4368800"/>
            <a:ext cx="152019" cy="15240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0071" y="4622800"/>
            <a:ext cx="152019" cy="15240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0071" y="4876800"/>
            <a:ext cx="152019" cy="1524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4256532" y="2882900"/>
            <a:ext cx="3648456" cy="3416300"/>
          </a:xfrm>
          <a:prstGeom prst="roundRect">
            <a:avLst>
              <a:gd name="adj" fmla="val 1194"/>
            </a:avLst>
          </a:prstGeom>
          <a:solidFill>
            <a:srgbClr val="68B8D9">
              <a:alpha val="20000"/>
            </a:srgbClr>
          </a:solidFill>
          <a:ln w="25337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1"/>
          <p:cNvSpPr/>
          <p:nvPr/>
        </p:nvSpPr>
        <p:spPr>
          <a:xfrm>
            <a:off x="5790776" y="2806700"/>
            <a:ext cx="579968" cy="203200"/>
          </a:xfrm>
          <a:prstGeom prst="roundRect">
            <a:avLst>
              <a:gd name="adj" fmla="val 281221875"/>
            </a:avLst>
          </a:prstGeom>
          <a:solidFill>
            <a:srgbClr val="68B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 txBox="1"/>
          <p:nvPr/>
        </p:nvSpPr>
        <p:spPr>
          <a:xfrm>
            <a:off x="5892122" y="2832100"/>
            <a:ext cx="3772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Popular</a:t>
            </a:r>
            <a:endParaRPr lang="en-US" sz="798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28741" y="3111500"/>
            <a:ext cx="304038" cy="3048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592834" y="3467100"/>
            <a:ext cx="975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Estándar</a:t>
            </a:r>
            <a:endParaRPr lang="en-US" sz="1795" dirty="0"/>
          </a:p>
        </p:txBody>
      </p:sp>
      <p:sp>
        <p:nvSpPr>
          <p:cNvPr id="24" name="Text 14"/>
          <p:cNvSpPr txBox="1"/>
          <p:nvPr/>
        </p:nvSpPr>
        <p:spPr>
          <a:xfrm>
            <a:off x="5353820" y="3746500"/>
            <a:ext cx="1453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94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$9.99/mes</a:t>
            </a:r>
            <a:endParaRPr lang="en-US" sz="2394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3888" y="4178300"/>
            <a:ext cx="152019" cy="15240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3888" y="4432300"/>
            <a:ext cx="152019" cy="15240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3888" y="4686300"/>
            <a:ext cx="152019" cy="152400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3888" y="4940300"/>
            <a:ext cx="152019" cy="152400"/>
          </a:xfrm>
          <a:prstGeom prst="rect">
            <a:avLst/>
          </a:prstGeom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33888" y="5194300"/>
            <a:ext cx="152019" cy="152400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8107680" y="2882900"/>
            <a:ext cx="3648456" cy="3416300"/>
          </a:xfrm>
          <a:prstGeom prst="roundRect">
            <a:avLst>
              <a:gd name="adj" fmla="val 1194"/>
            </a:avLst>
          </a:prstGeom>
          <a:solidFill>
            <a:srgbClr val="0077BE">
              <a:alpha val="10000"/>
            </a:srgbClr>
          </a:solidFill>
          <a:ln w="12668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779889" y="3048000"/>
            <a:ext cx="304038" cy="304800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9266528" y="3403600"/>
            <a:ext cx="13306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Premium 4K</a:t>
            </a:r>
            <a:endParaRPr lang="en-US" sz="1795" dirty="0"/>
          </a:p>
        </p:txBody>
      </p:sp>
      <p:sp>
        <p:nvSpPr>
          <p:cNvPr id="33" name="Text 17"/>
          <p:cNvSpPr txBox="1"/>
          <p:nvPr/>
        </p:nvSpPr>
        <p:spPr>
          <a:xfrm>
            <a:off x="9120447" y="3683000"/>
            <a:ext cx="16229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94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$15.99/mes</a:t>
            </a:r>
            <a:endParaRPr lang="en-US" sz="2394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2367" y="4114800"/>
            <a:ext cx="152019" cy="152400"/>
          </a:xfrm>
          <a:prstGeom prst="rect">
            <a:avLst/>
          </a:prstGeom>
        </p:spPr>
      </p:pic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2367" y="4368800"/>
            <a:ext cx="152019" cy="152400"/>
          </a:xfrm>
          <a:prstGeom prst="rect">
            <a:avLst/>
          </a:prstGeom>
        </p:spPr>
      </p:pic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2367" y="4622800"/>
            <a:ext cx="152019" cy="152400"/>
          </a:xfrm>
          <a:prstGeom prst="rect">
            <a:avLst/>
          </a:prstGeom>
        </p:spPr>
      </p:pic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2367" y="4876800"/>
            <a:ext cx="152019" cy="152400"/>
          </a:xfrm>
          <a:prstGeom prst="rect">
            <a:avLst/>
          </a:prstGeom>
        </p:spPr>
      </p:pic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72367" y="5130800"/>
            <a:ext cx="152019" cy="152400"/>
          </a:xfrm>
          <a:prstGeom prst="rect">
            <a:avLst/>
          </a:prstGeom>
        </p:spPr>
      </p:pic>
      <p:sp>
        <p:nvSpPr>
          <p:cNvPr id="39" name="Text 18"/>
          <p:cNvSpPr txBox="1"/>
          <p:nvPr/>
        </p:nvSpPr>
        <p:spPr>
          <a:xfrm>
            <a:off x="0" y="6604000"/>
            <a:ext cx="12161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79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Gestión de Contenido y Clasificación por Edad</a:t>
            </a:r>
            <a:endParaRPr lang="en-US" sz="299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8436" y="1054100"/>
            <a:ext cx="329375" cy="330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79157" y="990600"/>
            <a:ext cx="4833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Sistema de Protección de Menores</a:t>
            </a:r>
            <a:endParaRPr lang="en-US" sz="1795" dirty="0"/>
          </a:p>
        </p:txBody>
      </p:sp>
      <p:sp>
        <p:nvSpPr>
          <p:cNvPr id="5" name="Text 2"/>
          <p:cNvSpPr txBox="1"/>
          <p:nvPr/>
        </p:nvSpPr>
        <p:spPr>
          <a:xfrm>
            <a:off x="3879157" y="1244600"/>
            <a:ext cx="483382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Clasificación automática de usuarios y filtrado de contenido según edad</a:t>
            </a:r>
            <a:endParaRPr lang="en-US" sz="1197" dirty="0"/>
          </a:p>
        </p:txBody>
      </p:sp>
      <p:sp>
        <p:nvSpPr>
          <p:cNvPr id="6" name="Shape 3"/>
          <p:cNvSpPr/>
          <p:nvPr/>
        </p:nvSpPr>
        <p:spPr>
          <a:xfrm>
            <a:off x="1692993" y="1600200"/>
            <a:ext cx="1822545" cy="711200"/>
          </a:xfrm>
          <a:prstGeom prst="roundRect">
            <a:avLst>
              <a:gd name="adj" fmla="val 27551"/>
            </a:avLst>
          </a:prstGeom>
          <a:solidFill>
            <a:srgbClr val="4CAF50">
              <a:alpha val="80000"/>
            </a:srgbClr>
          </a:solidFill>
          <a:ln w="12668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857680" y="1689100"/>
            <a:ext cx="149317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 (General)</a:t>
            </a:r>
            <a:endParaRPr lang="en-US" sz="1197" dirty="0"/>
          </a:p>
        </p:txBody>
      </p:sp>
      <p:sp>
        <p:nvSpPr>
          <p:cNvPr id="8" name="Text 5"/>
          <p:cNvSpPr txBox="1"/>
          <p:nvPr/>
        </p:nvSpPr>
        <p:spPr>
          <a:xfrm>
            <a:off x="1857680" y="1892300"/>
            <a:ext cx="149317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las edades</a:t>
            </a:r>
            <a:endParaRPr lang="en-US" sz="998" dirty="0"/>
          </a:p>
        </p:txBody>
      </p:sp>
      <p:sp>
        <p:nvSpPr>
          <p:cNvPr id="9" name="Text 6"/>
          <p:cNvSpPr txBox="1"/>
          <p:nvPr/>
        </p:nvSpPr>
        <p:spPr>
          <a:xfrm>
            <a:off x="1857680" y="2070100"/>
            <a:ext cx="14931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apto para todo público</a:t>
            </a:r>
            <a:endParaRPr lang="en-US" sz="798" dirty="0"/>
          </a:p>
        </p:txBody>
      </p:sp>
      <p:sp>
        <p:nvSpPr>
          <p:cNvPr id="10" name="Shape 7"/>
          <p:cNvSpPr/>
          <p:nvPr/>
        </p:nvSpPr>
        <p:spPr>
          <a:xfrm>
            <a:off x="3667557" y="1600200"/>
            <a:ext cx="2027415" cy="711200"/>
          </a:xfrm>
          <a:prstGeom prst="roundRect">
            <a:avLst>
              <a:gd name="adj" fmla="val 27551"/>
            </a:avLst>
          </a:prstGeom>
          <a:solidFill>
            <a:srgbClr val="68B8D9">
              <a:alpha val="80000"/>
            </a:srgbClr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832245" y="1689100"/>
            <a:ext cx="169804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PG (Parental Guidance)</a:t>
            </a:r>
            <a:endParaRPr lang="en-US" sz="1197" dirty="0"/>
          </a:p>
        </p:txBody>
      </p:sp>
      <p:sp>
        <p:nvSpPr>
          <p:cNvPr id="12" name="Text 9"/>
          <p:cNvSpPr txBox="1"/>
          <p:nvPr/>
        </p:nvSpPr>
        <p:spPr>
          <a:xfrm>
            <a:off x="3832245" y="1892300"/>
            <a:ext cx="16980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13+ años</a:t>
            </a:r>
            <a:endParaRPr lang="en-US" sz="998" dirty="0"/>
          </a:p>
        </p:txBody>
      </p:sp>
      <p:sp>
        <p:nvSpPr>
          <p:cNvPr id="13" name="Text 10"/>
          <p:cNvSpPr txBox="1"/>
          <p:nvPr/>
        </p:nvSpPr>
        <p:spPr>
          <a:xfrm>
            <a:off x="3832245" y="2070100"/>
            <a:ext cx="1698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Supervisión parental sugerida</a:t>
            </a:r>
            <a:endParaRPr lang="en-US" sz="798" dirty="0"/>
          </a:p>
        </p:txBody>
      </p:sp>
      <p:sp>
        <p:nvSpPr>
          <p:cNvPr id="14" name="Shape 11"/>
          <p:cNvSpPr/>
          <p:nvPr/>
        </p:nvSpPr>
        <p:spPr>
          <a:xfrm>
            <a:off x="5846991" y="1600200"/>
            <a:ext cx="1647862" cy="711200"/>
          </a:xfrm>
          <a:prstGeom prst="roundRect">
            <a:avLst>
              <a:gd name="adj" fmla="val 27551"/>
            </a:avLst>
          </a:prstGeom>
          <a:solidFill>
            <a:srgbClr val="FFA726">
              <a:alpha val="80000"/>
            </a:srgbClr>
          </a:solidFill>
          <a:ln w="12668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011678" y="1689100"/>
            <a:ext cx="131848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PG-13</a:t>
            </a:r>
            <a:endParaRPr lang="en-US" sz="1197" dirty="0"/>
          </a:p>
        </p:txBody>
      </p:sp>
      <p:sp>
        <p:nvSpPr>
          <p:cNvPr id="16" name="Text 13"/>
          <p:cNvSpPr txBox="1"/>
          <p:nvPr/>
        </p:nvSpPr>
        <p:spPr>
          <a:xfrm>
            <a:off x="6011678" y="1892300"/>
            <a:ext cx="131848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13+ años</a:t>
            </a:r>
            <a:endParaRPr lang="en-US" sz="998" dirty="0"/>
          </a:p>
        </p:txBody>
      </p:sp>
      <p:sp>
        <p:nvSpPr>
          <p:cNvPr id="17" name="Text 14"/>
          <p:cNvSpPr txBox="1"/>
          <p:nvPr/>
        </p:nvSpPr>
        <p:spPr>
          <a:xfrm>
            <a:off x="6011678" y="2070100"/>
            <a:ext cx="1318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para adolescentes</a:t>
            </a:r>
            <a:endParaRPr lang="en-US" sz="798" dirty="0"/>
          </a:p>
        </p:txBody>
      </p:sp>
      <p:sp>
        <p:nvSpPr>
          <p:cNvPr id="18" name="Shape 15"/>
          <p:cNvSpPr/>
          <p:nvPr/>
        </p:nvSpPr>
        <p:spPr>
          <a:xfrm>
            <a:off x="7646872" y="1600200"/>
            <a:ext cx="1326108" cy="711200"/>
          </a:xfrm>
          <a:prstGeom prst="roundRect">
            <a:avLst>
              <a:gd name="adj" fmla="val 27551"/>
            </a:avLst>
          </a:prstGeom>
          <a:solidFill>
            <a:srgbClr val="EF5350">
              <a:alpha val="80000"/>
            </a:srgbClr>
          </a:solidFill>
          <a:ln w="12668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811560" y="1689100"/>
            <a:ext cx="99673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 (Restricted)</a:t>
            </a:r>
            <a:endParaRPr lang="en-US" sz="1197" dirty="0"/>
          </a:p>
        </p:txBody>
      </p:sp>
      <p:sp>
        <p:nvSpPr>
          <p:cNvPr id="20" name="Text 17"/>
          <p:cNvSpPr txBox="1"/>
          <p:nvPr/>
        </p:nvSpPr>
        <p:spPr>
          <a:xfrm>
            <a:off x="7811560" y="1892300"/>
            <a:ext cx="99673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17+ años</a:t>
            </a:r>
            <a:endParaRPr lang="en-US" sz="998" dirty="0"/>
          </a:p>
        </p:txBody>
      </p:sp>
      <p:sp>
        <p:nvSpPr>
          <p:cNvPr id="21" name="Text 18"/>
          <p:cNvSpPr txBox="1"/>
          <p:nvPr/>
        </p:nvSpPr>
        <p:spPr>
          <a:xfrm>
            <a:off x="7811560" y="2070100"/>
            <a:ext cx="996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restringido</a:t>
            </a:r>
            <a:endParaRPr lang="en-US" sz="798" dirty="0"/>
          </a:p>
        </p:txBody>
      </p:sp>
      <p:sp>
        <p:nvSpPr>
          <p:cNvPr id="22" name="Shape 19"/>
          <p:cNvSpPr/>
          <p:nvPr/>
        </p:nvSpPr>
        <p:spPr>
          <a:xfrm>
            <a:off x="9125000" y="1600200"/>
            <a:ext cx="1343527" cy="711200"/>
          </a:xfrm>
          <a:prstGeom prst="roundRect">
            <a:avLst>
              <a:gd name="adj" fmla="val 27551"/>
            </a:avLst>
          </a:prstGeom>
          <a:solidFill>
            <a:srgbClr val="9C27B0">
              <a:alpha val="80000"/>
            </a:srgbClr>
          </a:solidFill>
          <a:ln w="12668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289687" y="1689100"/>
            <a:ext cx="10141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Adulto</a:t>
            </a:r>
            <a:endParaRPr lang="en-US" sz="1197" dirty="0"/>
          </a:p>
        </p:txBody>
      </p:sp>
      <p:sp>
        <p:nvSpPr>
          <p:cNvPr id="24" name="Text 21"/>
          <p:cNvSpPr txBox="1"/>
          <p:nvPr/>
        </p:nvSpPr>
        <p:spPr>
          <a:xfrm>
            <a:off x="9289687" y="1892300"/>
            <a:ext cx="101415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18+ años</a:t>
            </a:r>
            <a:endParaRPr lang="en-US" sz="998" dirty="0"/>
          </a:p>
        </p:txBody>
      </p:sp>
      <p:sp>
        <p:nvSpPr>
          <p:cNvPr id="25" name="Text 22"/>
          <p:cNvSpPr txBox="1"/>
          <p:nvPr/>
        </p:nvSpPr>
        <p:spPr>
          <a:xfrm>
            <a:off x="9289687" y="2070100"/>
            <a:ext cx="10141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mayores de edad</a:t>
            </a:r>
            <a:endParaRPr lang="en-US" sz="798" dirty="0"/>
          </a:p>
        </p:txBody>
      </p:sp>
      <p:sp>
        <p:nvSpPr>
          <p:cNvPr id="26" name="Text 23"/>
          <p:cNvSpPr txBox="1"/>
          <p:nvPr/>
        </p:nvSpPr>
        <p:spPr>
          <a:xfrm>
            <a:off x="405384" y="2413000"/>
            <a:ext cx="1135075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i="1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catálogo se filtra automáticamente según la clasificación del usuario o perfil activo</a:t>
            </a:r>
            <a:endParaRPr lang="en-US" sz="998" dirty="0"/>
          </a:p>
        </p:txBody>
      </p:sp>
      <p:sp>
        <p:nvSpPr>
          <p:cNvPr id="27" name="Shape 24"/>
          <p:cNvSpPr/>
          <p:nvPr/>
        </p:nvSpPr>
        <p:spPr>
          <a:xfrm>
            <a:off x="405384" y="2794000"/>
            <a:ext cx="5548694" cy="3378200"/>
          </a:xfrm>
          <a:prstGeom prst="roundRect">
            <a:avLst>
              <a:gd name="adj" fmla="val 1221"/>
            </a:avLst>
          </a:prstGeom>
          <a:solidFill>
            <a:srgbClr val="0077BE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744" y="3048000"/>
            <a:ext cx="380048" cy="3810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102138" y="3009900"/>
            <a:ext cx="24744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Contenido Audiovisual</a:t>
            </a:r>
            <a:endParaRPr lang="en-US" sz="1795" dirty="0"/>
          </a:p>
        </p:txBody>
      </p:sp>
      <p:sp>
        <p:nvSpPr>
          <p:cNvPr id="30" name="Text 26"/>
          <p:cNvSpPr txBox="1"/>
          <p:nvPr/>
        </p:nvSpPr>
        <p:spPr>
          <a:xfrm>
            <a:off x="1102138" y="3263900"/>
            <a:ext cx="247446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Películas, series, documentales</a:t>
            </a:r>
            <a:endParaRPr lang="en-US" sz="1197" dirty="0"/>
          </a:p>
        </p:txBody>
      </p:sp>
      <p:sp>
        <p:nvSpPr>
          <p:cNvPr id="31" name="Text 27"/>
          <p:cNvSpPr txBox="1"/>
          <p:nvPr/>
        </p:nvSpPr>
        <p:spPr>
          <a:xfrm>
            <a:off x="620744" y="36195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Atributos:</a:t>
            </a:r>
            <a:endParaRPr lang="en-US" sz="998" dirty="0"/>
          </a:p>
        </p:txBody>
      </p:sp>
      <p:sp>
        <p:nvSpPr>
          <p:cNvPr id="32" name="Text 28"/>
          <p:cNvSpPr txBox="1"/>
          <p:nvPr/>
        </p:nvSpPr>
        <p:spPr>
          <a:xfrm>
            <a:off x="620744" y="39243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Título, tipo, género</a:t>
            </a:r>
            <a:endParaRPr lang="en-US" sz="998" dirty="0"/>
          </a:p>
        </p:txBody>
      </p:sp>
      <p:sp>
        <p:nvSpPr>
          <p:cNvPr id="33" name="Text 29"/>
          <p:cNvSpPr txBox="1"/>
          <p:nvPr/>
        </p:nvSpPr>
        <p:spPr>
          <a:xfrm>
            <a:off x="620744" y="41529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Duración en minutos</a:t>
            </a:r>
            <a:endParaRPr lang="en-US" sz="998" dirty="0"/>
          </a:p>
        </p:txBody>
      </p:sp>
      <p:sp>
        <p:nvSpPr>
          <p:cNvPr id="34" name="Text 30"/>
          <p:cNvSpPr txBox="1"/>
          <p:nvPr/>
        </p:nvSpPr>
        <p:spPr>
          <a:xfrm>
            <a:off x="620744" y="43815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Clasificación por edad</a:t>
            </a:r>
            <a:endParaRPr lang="en-US" sz="998" dirty="0"/>
          </a:p>
        </p:txBody>
      </p:sp>
      <p:sp>
        <p:nvSpPr>
          <p:cNvPr id="35" name="Text 31"/>
          <p:cNvSpPr txBox="1"/>
          <p:nvPr/>
        </p:nvSpPr>
        <p:spPr>
          <a:xfrm>
            <a:off x="620744" y="46101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Sinopsis y director</a:t>
            </a:r>
            <a:endParaRPr lang="en-US" sz="998" dirty="0"/>
          </a:p>
        </p:txBody>
      </p:sp>
      <p:sp>
        <p:nvSpPr>
          <p:cNvPr id="36" name="Text 32"/>
          <p:cNvSpPr txBox="1"/>
          <p:nvPr/>
        </p:nvSpPr>
        <p:spPr>
          <a:xfrm>
            <a:off x="620744" y="48387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Año de lanzamiento</a:t>
            </a:r>
            <a:endParaRPr lang="en-US" sz="998" dirty="0"/>
          </a:p>
        </p:txBody>
      </p:sp>
      <p:sp>
        <p:nvSpPr>
          <p:cNvPr id="37" name="Text 33"/>
          <p:cNvSpPr txBox="1"/>
          <p:nvPr/>
        </p:nvSpPr>
        <p:spPr>
          <a:xfrm>
            <a:off x="620744" y="50673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Promedio de calificación (⭐ 1.0-10.0)</a:t>
            </a:r>
            <a:endParaRPr lang="en-US" sz="998" dirty="0"/>
          </a:p>
        </p:txBody>
      </p:sp>
      <p:sp>
        <p:nvSpPr>
          <p:cNvPr id="38" name="Text 34"/>
          <p:cNvSpPr txBox="1"/>
          <p:nvPr/>
        </p:nvSpPr>
        <p:spPr>
          <a:xfrm>
            <a:off x="620744" y="52959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 de disponibilidad</a:t>
            </a:r>
            <a:endParaRPr lang="en-US" sz="998" dirty="0"/>
          </a:p>
        </p:txBody>
      </p:sp>
      <p:sp>
        <p:nvSpPr>
          <p:cNvPr id="39" name="Text 35"/>
          <p:cNvSpPr txBox="1"/>
          <p:nvPr/>
        </p:nvSpPr>
        <p:spPr>
          <a:xfrm>
            <a:off x="620744" y="5651500"/>
            <a:ext cx="5117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Películas dramáticas • Series de acción • Documentales educativos</a:t>
            </a:r>
            <a:endParaRPr lang="en-US" sz="798" dirty="0"/>
          </a:p>
        </p:txBody>
      </p:sp>
      <p:sp>
        <p:nvSpPr>
          <p:cNvPr id="40" name="Shape 36"/>
          <p:cNvSpPr/>
          <p:nvPr/>
        </p:nvSpPr>
        <p:spPr>
          <a:xfrm>
            <a:off x="6207443" y="2794000"/>
            <a:ext cx="5548694" cy="3378200"/>
          </a:xfrm>
          <a:prstGeom prst="roundRect">
            <a:avLst>
              <a:gd name="adj" fmla="val 1221"/>
            </a:avLst>
          </a:prstGeom>
          <a:solidFill>
            <a:srgbClr val="0077BE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2803" y="3048000"/>
            <a:ext cx="380048" cy="38100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6904196" y="3009900"/>
            <a:ext cx="22309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Contenido de Audio</a:t>
            </a:r>
            <a:endParaRPr lang="en-US" sz="1795" dirty="0"/>
          </a:p>
        </p:txBody>
      </p:sp>
      <p:sp>
        <p:nvSpPr>
          <p:cNvPr id="43" name="Text 38"/>
          <p:cNvSpPr txBox="1"/>
          <p:nvPr/>
        </p:nvSpPr>
        <p:spPr>
          <a:xfrm>
            <a:off x="6904196" y="3263900"/>
            <a:ext cx="223099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Canciones, podcasts, audiolibros</a:t>
            </a:r>
            <a:endParaRPr lang="en-US" sz="1197" dirty="0"/>
          </a:p>
        </p:txBody>
      </p:sp>
      <p:sp>
        <p:nvSpPr>
          <p:cNvPr id="44" name="Text 39"/>
          <p:cNvSpPr txBox="1"/>
          <p:nvPr/>
        </p:nvSpPr>
        <p:spPr>
          <a:xfrm>
            <a:off x="6422803" y="36195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Atributos:</a:t>
            </a:r>
            <a:endParaRPr lang="en-US" sz="998" dirty="0"/>
          </a:p>
        </p:txBody>
      </p:sp>
      <p:sp>
        <p:nvSpPr>
          <p:cNvPr id="45" name="Text 40"/>
          <p:cNvSpPr txBox="1"/>
          <p:nvPr/>
        </p:nvSpPr>
        <p:spPr>
          <a:xfrm>
            <a:off x="6422803" y="39243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Título, artista, álbum</a:t>
            </a:r>
            <a:endParaRPr lang="en-US" sz="998" dirty="0"/>
          </a:p>
        </p:txBody>
      </p:sp>
      <p:sp>
        <p:nvSpPr>
          <p:cNvPr id="46" name="Text 41"/>
          <p:cNvSpPr txBox="1"/>
          <p:nvPr/>
        </p:nvSpPr>
        <p:spPr>
          <a:xfrm>
            <a:off x="6422803" y="41529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Tipo y género</a:t>
            </a:r>
            <a:endParaRPr lang="en-US" sz="998" dirty="0"/>
          </a:p>
        </p:txBody>
      </p:sp>
      <p:sp>
        <p:nvSpPr>
          <p:cNvPr id="47" name="Text 42"/>
          <p:cNvSpPr txBox="1"/>
          <p:nvPr/>
        </p:nvSpPr>
        <p:spPr>
          <a:xfrm>
            <a:off x="6422803" y="43815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Duración en minutos</a:t>
            </a:r>
            <a:endParaRPr lang="en-US" sz="998" dirty="0"/>
          </a:p>
        </p:txBody>
      </p:sp>
      <p:sp>
        <p:nvSpPr>
          <p:cNvPr id="48" name="Text 43"/>
          <p:cNvSpPr txBox="1"/>
          <p:nvPr/>
        </p:nvSpPr>
        <p:spPr>
          <a:xfrm>
            <a:off x="6422803" y="46101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Clasificación (General/Explicit)</a:t>
            </a:r>
            <a:endParaRPr lang="en-US" sz="998" dirty="0"/>
          </a:p>
        </p:txBody>
      </p:sp>
      <p:sp>
        <p:nvSpPr>
          <p:cNvPr id="49" name="Text 44"/>
          <p:cNvSpPr txBox="1"/>
          <p:nvPr/>
        </p:nvSpPr>
        <p:spPr>
          <a:xfrm>
            <a:off x="6422803" y="48387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Número de pista</a:t>
            </a:r>
            <a:endParaRPr lang="en-US" sz="998" dirty="0"/>
          </a:p>
        </p:txBody>
      </p:sp>
      <p:sp>
        <p:nvSpPr>
          <p:cNvPr id="50" name="Text 45"/>
          <p:cNvSpPr txBox="1"/>
          <p:nvPr/>
        </p:nvSpPr>
        <p:spPr>
          <a:xfrm>
            <a:off x="6422803" y="50673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Promedio de calificación (⭐ 1.0-10.0)</a:t>
            </a:r>
            <a:endParaRPr lang="en-US" sz="998" dirty="0"/>
          </a:p>
        </p:txBody>
      </p:sp>
      <p:sp>
        <p:nvSpPr>
          <p:cNvPr id="51" name="Text 46"/>
          <p:cNvSpPr txBox="1"/>
          <p:nvPr/>
        </p:nvSpPr>
        <p:spPr>
          <a:xfrm>
            <a:off x="6422803" y="5295900"/>
            <a:ext cx="51179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Estado de disponibilidad</a:t>
            </a:r>
            <a:endParaRPr lang="en-US" sz="998" dirty="0"/>
          </a:p>
        </p:txBody>
      </p:sp>
      <p:sp>
        <p:nvSpPr>
          <p:cNvPr id="52" name="Text 47"/>
          <p:cNvSpPr txBox="1"/>
          <p:nvPr/>
        </p:nvSpPr>
        <p:spPr>
          <a:xfrm>
            <a:off x="6422803" y="5651500"/>
            <a:ext cx="5117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Música pop y rock • Podcasts educativos • Audiolibros narrados</a:t>
            </a:r>
            <a:endParaRPr lang="en-US" sz="798" dirty="0"/>
          </a:p>
        </p:txBody>
      </p:sp>
      <p:sp>
        <p:nvSpPr>
          <p:cNvPr id="53" name="Text 48"/>
          <p:cNvSpPr txBox="1"/>
          <p:nvPr/>
        </p:nvSpPr>
        <p:spPr>
          <a:xfrm>
            <a:off x="0" y="65278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Funcionalidades Clave: Favoritos e Historial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0" y="787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Fase AA2 - Paso 1 y Paso 2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405384" y="1320800"/>
            <a:ext cx="5523357" cy="4953000"/>
          </a:xfrm>
          <a:prstGeom prst="roundRect">
            <a:avLst>
              <a:gd name="adj" fmla="val 568"/>
            </a:avLst>
          </a:prstGeom>
          <a:solidFill>
            <a:srgbClr val="0077BE"/>
          </a:solidFill>
          <a:ln w="25337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7720" y="1447800"/>
            <a:ext cx="1044339" cy="254000"/>
          </a:xfrm>
          <a:prstGeom prst="roundRect">
            <a:avLst>
              <a:gd name="adj" fmla="val 179982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859066" y="1498600"/>
            <a:ext cx="8416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✅ Implementado</a:t>
            </a:r>
            <a:endParaRPr lang="en-US" sz="798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413" y="1600200"/>
            <a:ext cx="354711" cy="355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9470" y="1549400"/>
            <a:ext cx="209045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 1</a:t>
            </a:r>
            <a:endParaRPr lang="en-US" sz="1197" dirty="0"/>
          </a:p>
        </p:txBody>
      </p:sp>
      <p:sp>
        <p:nvSpPr>
          <p:cNvPr id="9" name="Text 6"/>
          <p:cNvSpPr txBox="1"/>
          <p:nvPr/>
        </p:nvSpPr>
        <p:spPr>
          <a:xfrm>
            <a:off x="1089470" y="1752600"/>
            <a:ext cx="2090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 Lista (Favoritos)</a:t>
            </a:r>
            <a:endParaRPr lang="en-US" sz="1795" dirty="0"/>
          </a:p>
        </p:txBody>
      </p:sp>
      <p:sp>
        <p:nvSpPr>
          <p:cNvPr id="10" name="Text 7"/>
          <p:cNvSpPr txBox="1"/>
          <p:nvPr/>
        </p:nvSpPr>
        <p:spPr>
          <a:xfrm>
            <a:off x="633413" y="2108200"/>
            <a:ext cx="5067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contenido favorito con diferenciación por tipo.</a:t>
            </a:r>
            <a:endParaRPr lang="en-US" sz="998" dirty="0"/>
          </a:p>
        </p:txBody>
      </p:sp>
      <p:sp>
        <p:nvSpPr>
          <p:cNvPr id="11" name="Text 8"/>
          <p:cNvSpPr txBox="1"/>
          <p:nvPr/>
        </p:nvSpPr>
        <p:spPr>
          <a:xfrm>
            <a:off x="633413" y="2387600"/>
            <a:ext cx="5067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Detalles Técnicos</a:t>
            </a:r>
            <a:endParaRPr lang="en-US" sz="1197" dirty="0"/>
          </a:p>
        </p:txBody>
      </p:sp>
      <p:sp>
        <p:nvSpPr>
          <p:cNvPr id="12" name="Text 9"/>
          <p:cNvSpPr txBox="1"/>
          <p:nvPr/>
        </p:nvSpPr>
        <p:spPr>
          <a:xfrm>
            <a:off x="633413" y="3733800"/>
            <a:ext cx="5067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Flujo de Usuario</a:t>
            </a:r>
            <a:endParaRPr lang="en-US" sz="1197" dirty="0"/>
          </a:p>
        </p:txBody>
      </p:sp>
      <p:sp>
        <p:nvSpPr>
          <p:cNvPr id="13" name="Shape 10"/>
          <p:cNvSpPr/>
          <p:nvPr/>
        </p:nvSpPr>
        <p:spPr>
          <a:xfrm>
            <a:off x="633413" y="5715000"/>
            <a:ext cx="5067300" cy="330200"/>
          </a:xfrm>
          <a:prstGeom prst="roundRect">
            <a:avLst>
              <a:gd name="adj" fmla="val 85207"/>
            </a:avLst>
          </a:prstGeom>
          <a:solidFill>
            <a:srgbClr val="4CAF5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4759" y="5791200"/>
            <a:ext cx="486460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Acceso rápido y personalización de la experiencia</a:t>
            </a:r>
            <a:endParaRPr lang="en-US" sz="998" dirty="0"/>
          </a:p>
        </p:txBody>
      </p:sp>
      <p:sp>
        <p:nvSpPr>
          <p:cNvPr id="15" name="Shape 12"/>
          <p:cNvSpPr/>
          <p:nvPr/>
        </p:nvSpPr>
        <p:spPr>
          <a:xfrm>
            <a:off x="6232779" y="1320800"/>
            <a:ext cx="5523357" cy="4953000"/>
          </a:xfrm>
          <a:prstGeom prst="roundRect">
            <a:avLst>
              <a:gd name="adj" fmla="val 568"/>
            </a:avLst>
          </a:prstGeom>
          <a:solidFill>
            <a:srgbClr val="0077BE"/>
          </a:solidFill>
          <a:ln w="25337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585115" y="1447800"/>
            <a:ext cx="1044339" cy="254000"/>
          </a:xfrm>
          <a:prstGeom prst="roundRect">
            <a:avLst>
              <a:gd name="adj" fmla="val 179982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686461" y="1498600"/>
            <a:ext cx="8416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✅ Implementado</a:t>
            </a:r>
            <a:endParaRPr lang="en-US" sz="798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0808" y="1600200"/>
            <a:ext cx="354711" cy="355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16865" y="1549400"/>
            <a:ext cx="283818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 2</a:t>
            </a:r>
            <a:endParaRPr lang="en-US" sz="1197" dirty="0"/>
          </a:p>
        </p:txBody>
      </p:sp>
      <p:sp>
        <p:nvSpPr>
          <p:cNvPr id="20" name="Text 16"/>
          <p:cNvSpPr txBox="1"/>
          <p:nvPr/>
        </p:nvSpPr>
        <p:spPr>
          <a:xfrm>
            <a:off x="6916865" y="1752600"/>
            <a:ext cx="28381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Historial de Reproducción</a:t>
            </a:r>
            <a:endParaRPr lang="en-US" sz="1795" dirty="0"/>
          </a:p>
        </p:txBody>
      </p:sp>
      <p:sp>
        <p:nvSpPr>
          <p:cNvPr id="21" name="Text 17"/>
          <p:cNvSpPr txBox="1"/>
          <p:nvPr/>
        </p:nvSpPr>
        <p:spPr>
          <a:xfrm>
            <a:off x="6460808" y="2108200"/>
            <a:ext cx="5067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automático de reproducciones con seguimiento de progreso.</a:t>
            </a:r>
            <a:endParaRPr lang="en-US" sz="998" dirty="0"/>
          </a:p>
        </p:txBody>
      </p:sp>
      <p:sp>
        <p:nvSpPr>
          <p:cNvPr id="22" name="Text 18"/>
          <p:cNvSpPr txBox="1"/>
          <p:nvPr/>
        </p:nvSpPr>
        <p:spPr>
          <a:xfrm>
            <a:off x="6460808" y="2387600"/>
            <a:ext cx="5067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Detalles Técnicos</a:t>
            </a:r>
            <a:endParaRPr lang="en-US" sz="1197" dirty="0"/>
          </a:p>
        </p:txBody>
      </p:sp>
      <p:sp>
        <p:nvSpPr>
          <p:cNvPr id="23" name="Text 19"/>
          <p:cNvSpPr txBox="1"/>
          <p:nvPr/>
        </p:nvSpPr>
        <p:spPr>
          <a:xfrm>
            <a:off x="6460808" y="3530600"/>
            <a:ext cx="5067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Flujo de Usuario</a:t>
            </a:r>
            <a:endParaRPr lang="en-US" sz="1197" dirty="0"/>
          </a:p>
        </p:txBody>
      </p:sp>
      <p:sp>
        <p:nvSpPr>
          <p:cNvPr id="24" name="Shape 20"/>
          <p:cNvSpPr/>
          <p:nvPr/>
        </p:nvSpPr>
        <p:spPr>
          <a:xfrm>
            <a:off x="6460808" y="5715000"/>
            <a:ext cx="5067300" cy="330200"/>
          </a:xfrm>
          <a:prstGeom prst="roundRect">
            <a:avLst>
              <a:gd name="adj" fmla="val 85207"/>
            </a:avLst>
          </a:prstGeom>
          <a:solidFill>
            <a:srgbClr val="4CAF5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6562154" y="5791200"/>
            <a:ext cx="486460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Continuidad de experiencia sin perder progreso</a:t>
            </a:r>
            <a:endParaRPr lang="en-US" sz="998" dirty="0"/>
          </a:p>
        </p:txBody>
      </p:sp>
      <p:sp>
        <p:nvSpPr>
          <p:cNvPr id="26" name="Text 22"/>
          <p:cNvSpPr txBox="1"/>
          <p:nvPr/>
        </p:nvSpPr>
        <p:spPr>
          <a:xfrm>
            <a:off x="0" y="65786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 y Validación</a:t>
            </a:r>
            <a:endParaRPr lang="en-US" sz="299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17320" y="889000"/>
            <a:ext cx="253365" cy="254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72031" y="901700"/>
            <a:ext cx="477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Enfoque integral de testing: unitario y de integración</a:t>
            </a:r>
            <a:endParaRPr lang="en-US" sz="149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5384" y="1308100"/>
            <a:ext cx="228029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4759" y="1295400"/>
            <a:ext cx="19390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Pruebas Unitarias</a:t>
            </a:r>
            <a:endParaRPr lang="en-US" sz="1795" dirty="0"/>
          </a:p>
        </p:txBody>
      </p:sp>
      <p:sp>
        <p:nvSpPr>
          <p:cNvPr id="7" name="Text 3"/>
          <p:cNvSpPr txBox="1"/>
          <p:nvPr/>
        </p:nvSpPr>
        <p:spPr>
          <a:xfrm>
            <a:off x="2775139" y="1295400"/>
            <a:ext cx="15126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testing package</a:t>
            </a:r>
            <a:endParaRPr lang="en-US" sz="1197" dirty="0"/>
          </a:p>
        </p:txBody>
      </p:sp>
      <p:sp>
        <p:nvSpPr>
          <p:cNvPr id="8" name="Shape 4"/>
          <p:cNvSpPr/>
          <p:nvPr/>
        </p:nvSpPr>
        <p:spPr>
          <a:xfrm>
            <a:off x="405384" y="1625600"/>
            <a:ext cx="3682205" cy="1257300"/>
          </a:xfrm>
          <a:prstGeom prst="roundRect">
            <a:avLst>
              <a:gd name="adj" fmla="val 8815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064" y="1746250"/>
            <a:ext cx="177356" cy="177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6429" y="1733550"/>
            <a:ext cx="7433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Seguridad</a:t>
            </a:r>
            <a:endParaRPr lang="en-US" sz="1197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064" y="2012950"/>
            <a:ext cx="126683" cy="1270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90420" y="1987550"/>
            <a:ext cx="136629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de contraseñas</a:t>
            </a:r>
            <a:endParaRPr lang="en-US" sz="998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064" y="2216150"/>
            <a:ext cx="126683" cy="1270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90420" y="2190750"/>
            <a:ext cx="108917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email</a:t>
            </a:r>
            <a:endParaRPr lang="en-US" sz="998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064" y="2419350"/>
            <a:ext cx="126683" cy="1270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90420" y="2393950"/>
            <a:ext cx="13661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 de contraseña</a:t>
            </a:r>
            <a:endParaRPr lang="en-US" sz="998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064" y="2622550"/>
            <a:ext cx="126683" cy="1270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90420" y="2597150"/>
            <a:ext cx="11410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edad</a:t>
            </a:r>
            <a:endParaRPr lang="en-US" sz="998" dirty="0"/>
          </a:p>
        </p:txBody>
      </p:sp>
      <p:sp>
        <p:nvSpPr>
          <p:cNvPr id="19" name="Shape 10"/>
          <p:cNvSpPr/>
          <p:nvPr/>
        </p:nvSpPr>
        <p:spPr>
          <a:xfrm>
            <a:off x="4239608" y="1625600"/>
            <a:ext cx="3682205" cy="1257300"/>
          </a:xfrm>
          <a:prstGeom prst="roundRect">
            <a:avLst>
              <a:gd name="adj" fmla="val 8815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47288" y="1746250"/>
            <a:ext cx="177356" cy="1778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600653" y="1733550"/>
            <a:ext cx="13515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Lógica de Negocio</a:t>
            </a:r>
            <a:endParaRPr lang="en-US" sz="1197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47288" y="2012950"/>
            <a:ext cx="126683" cy="1270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4524644" y="1987550"/>
            <a:ext cx="185213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clasificación por edad</a:t>
            </a:r>
            <a:endParaRPr lang="en-US" sz="998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47288" y="2216150"/>
            <a:ext cx="126683" cy="1270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4524644" y="2190750"/>
            <a:ext cx="190142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de contenido (age_rating)</a:t>
            </a:r>
            <a:endParaRPr lang="en-US" sz="998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47288" y="2419350"/>
            <a:ext cx="126683" cy="12700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4524644" y="2393950"/>
            <a:ext cx="171120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de calificaciones</a:t>
            </a:r>
            <a:endParaRPr lang="en-US" sz="998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47288" y="2622550"/>
            <a:ext cx="126683" cy="12700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4524644" y="2597150"/>
            <a:ext cx="152108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perfiles por plan</a:t>
            </a:r>
            <a:endParaRPr lang="en-US" sz="998" dirty="0"/>
          </a:p>
        </p:txBody>
      </p:sp>
      <p:sp>
        <p:nvSpPr>
          <p:cNvPr id="30" name="Shape 16"/>
          <p:cNvSpPr/>
          <p:nvPr/>
        </p:nvSpPr>
        <p:spPr>
          <a:xfrm>
            <a:off x="8073832" y="1625600"/>
            <a:ext cx="3682205" cy="1257300"/>
          </a:xfrm>
          <a:prstGeom prst="roundRect">
            <a:avLst>
              <a:gd name="adj" fmla="val 8815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1512" y="1746250"/>
            <a:ext cx="177356" cy="1778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8434877" y="1733550"/>
            <a:ext cx="92913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Repositorios</a:t>
            </a:r>
            <a:endParaRPr lang="en-US" sz="1197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81512" y="2012950"/>
            <a:ext cx="126683" cy="12700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8358868" y="1987550"/>
            <a:ext cx="111945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CRUD</a:t>
            </a:r>
            <a:endParaRPr lang="en-US" sz="998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81512" y="2216150"/>
            <a:ext cx="126683" cy="12700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8358868" y="2190750"/>
            <a:ext cx="125296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(UNIQUE)</a:t>
            </a:r>
            <a:endParaRPr lang="en-US" sz="998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81512" y="2419350"/>
            <a:ext cx="126683" cy="12700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8358868" y="2393950"/>
            <a:ext cx="141528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y cascadas</a:t>
            </a:r>
            <a:endParaRPr lang="en-US" sz="998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81512" y="2622550"/>
            <a:ext cx="126683" cy="127000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8358868" y="2597150"/>
            <a:ext cx="15205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complejas (JOINs)</a:t>
            </a:r>
            <a:endParaRPr lang="en-US" sz="998" dirty="0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05384" y="2997200"/>
            <a:ext cx="228029" cy="228600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734759" y="2984500"/>
            <a:ext cx="40168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Pruebas de Integración con Postman</a:t>
            </a:r>
            <a:endParaRPr lang="en-US" sz="1795" dirty="0"/>
          </a:p>
        </p:txBody>
      </p:sp>
      <p:sp>
        <p:nvSpPr>
          <p:cNvPr id="43" name="Text 23"/>
          <p:cNvSpPr txBox="1"/>
          <p:nvPr/>
        </p:nvSpPr>
        <p:spPr>
          <a:xfrm>
            <a:off x="405384" y="3289300"/>
            <a:ext cx="113507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Colección completa de endpoints REST para validar flujos de usuario.</a:t>
            </a:r>
            <a:endParaRPr lang="en-US" sz="1197" dirty="0"/>
          </a:p>
        </p:txBody>
      </p:sp>
      <p:sp>
        <p:nvSpPr>
          <p:cNvPr id="44" name="Shape 24"/>
          <p:cNvSpPr/>
          <p:nvPr/>
        </p:nvSpPr>
        <p:spPr>
          <a:xfrm>
            <a:off x="405384" y="3568700"/>
            <a:ext cx="3682205" cy="2425700"/>
          </a:xfrm>
          <a:prstGeom prst="roundRect">
            <a:avLst>
              <a:gd name="adj" fmla="val 2368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5"/>
          <p:cNvSpPr txBox="1"/>
          <p:nvPr/>
        </p:nvSpPr>
        <p:spPr>
          <a:xfrm>
            <a:off x="513064" y="3676650"/>
            <a:ext cx="346684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Autenticación</a:t>
            </a:r>
            <a:endParaRPr lang="en-US" sz="1197" dirty="0"/>
          </a:p>
        </p:txBody>
      </p:sp>
      <p:sp>
        <p:nvSpPr>
          <p:cNvPr id="46" name="Shape 26"/>
          <p:cNvSpPr/>
          <p:nvPr/>
        </p:nvSpPr>
        <p:spPr>
          <a:xfrm>
            <a:off x="513064" y="3930650"/>
            <a:ext cx="3466845" cy="584200"/>
          </a:xfrm>
          <a:prstGeom prst="roundRect">
            <a:avLst>
              <a:gd name="adj" fmla="val 13611"/>
            </a:avLst>
          </a:prstGeom>
          <a:solidFill>
            <a:srgbClr val="003B5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27"/>
          <p:cNvSpPr txBox="1"/>
          <p:nvPr/>
        </p:nvSpPr>
        <p:spPr>
          <a:xfrm>
            <a:off x="563737" y="39814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/register</a:t>
            </a:r>
            <a:endParaRPr lang="en-US" sz="798" dirty="0"/>
          </a:p>
        </p:txBody>
      </p:sp>
      <p:sp>
        <p:nvSpPr>
          <p:cNvPr id="48" name="Text 28"/>
          <p:cNvSpPr txBox="1"/>
          <p:nvPr/>
        </p:nvSpPr>
        <p:spPr>
          <a:xfrm>
            <a:off x="563737" y="41465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/login</a:t>
            </a:r>
            <a:endParaRPr lang="en-US" sz="798" dirty="0"/>
          </a:p>
        </p:txBody>
      </p:sp>
      <p:sp>
        <p:nvSpPr>
          <p:cNvPr id="49" name="Text 29"/>
          <p:cNvSpPr txBox="1"/>
          <p:nvPr/>
        </p:nvSpPr>
        <p:spPr>
          <a:xfrm>
            <a:off x="563737" y="43116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/logout</a:t>
            </a:r>
            <a:endParaRPr lang="en-US" sz="798" dirty="0"/>
          </a:p>
        </p:txBody>
      </p:sp>
      <p:sp>
        <p:nvSpPr>
          <p:cNvPr id="50" name="Shape 30"/>
          <p:cNvSpPr/>
          <p:nvPr/>
        </p:nvSpPr>
        <p:spPr>
          <a:xfrm>
            <a:off x="4239608" y="3568700"/>
            <a:ext cx="3682205" cy="2425700"/>
          </a:xfrm>
          <a:prstGeom prst="roundRect">
            <a:avLst>
              <a:gd name="adj" fmla="val 2368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1"/>
          <p:cNvSpPr txBox="1"/>
          <p:nvPr/>
        </p:nvSpPr>
        <p:spPr>
          <a:xfrm>
            <a:off x="4347288" y="3676650"/>
            <a:ext cx="346684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Gestión de Contenido</a:t>
            </a:r>
            <a:endParaRPr lang="en-US" sz="1197" dirty="0"/>
          </a:p>
        </p:txBody>
      </p:sp>
      <p:sp>
        <p:nvSpPr>
          <p:cNvPr id="52" name="Shape 32"/>
          <p:cNvSpPr/>
          <p:nvPr/>
        </p:nvSpPr>
        <p:spPr>
          <a:xfrm>
            <a:off x="4347288" y="3930650"/>
            <a:ext cx="3466845" cy="584200"/>
          </a:xfrm>
          <a:prstGeom prst="roundRect">
            <a:avLst>
              <a:gd name="adj" fmla="val 13611"/>
            </a:avLst>
          </a:prstGeom>
          <a:solidFill>
            <a:srgbClr val="003B5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33"/>
          <p:cNvSpPr txBox="1"/>
          <p:nvPr/>
        </p:nvSpPr>
        <p:spPr>
          <a:xfrm>
            <a:off x="4397961" y="39814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/content/audiovisual</a:t>
            </a:r>
            <a:endParaRPr lang="en-US" sz="798" dirty="0"/>
          </a:p>
        </p:txBody>
      </p:sp>
      <p:sp>
        <p:nvSpPr>
          <p:cNvPr id="54" name="Text 34"/>
          <p:cNvSpPr txBox="1"/>
          <p:nvPr/>
        </p:nvSpPr>
        <p:spPr>
          <a:xfrm>
            <a:off x="4397961" y="41465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/content/audio</a:t>
            </a:r>
            <a:endParaRPr lang="en-US" sz="798" dirty="0"/>
          </a:p>
        </p:txBody>
      </p:sp>
      <p:sp>
        <p:nvSpPr>
          <p:cNvPr id="55" name="Text 35"/>
          <p:cNvSpPr txBox="1"/>
          <p:nvPr/>
        </p:nvSpPr>
        <p:spPr>
          <a:xfrm>
            <a:off x="4397961" y="43116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/content/&lt;id&gt;</a:t>
            </a:r>
            <a:endParaRPr lang="en-US" sz="798" dirty="0"/>
          </a:p>
        </p:txBody>
      </p:sp>
      <p:sp>
        <p:nvSpPr>
          <p:cNvPr id="56" name="Shape 36"/>
          <p:cNvSpPr/>
          <p:nvPr/>
        </p:nvSpPr>
        <p:spPr>
          <a:xfrm>
            <a:off x="8073832" y="3568700"/>
            <a:ext cx="3682205" cy="2425700"/>
          </a:xfrm>
          <a:prstGeom prst="roundRect">
            <a:avLst>
              <a:gd name="adj" fmla="val 2368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37"/>
          <p:cNvSpPr txBox="1"/>
          <p:nvPr/>
        </p:nvSpPr>
        <p:spPr>
          <a:xfrm>
            <a:off x="8181512" y="3676650"/>
            <a:ext cx="346684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Favoritos e Historial</a:t>
            </a:r>
            <a:endParaRPr lang="en-US" sz="1197" dirty="0"/>
          </a:p>
        </p:txBody>
      </p:sp>
      <p:sp>
        <p:nvSpPr>
          <p:cNvPr id="58" name="Shape 38"/>
          <p:cNvSpPr/>
          <p:nvPr/>
        </p:nvSpPr>
        <p:spPr>
          <a:xfrm>
            <a:off x="8181512" y="3930650"/>
            <a:ext cx="3466845" cy="584200"/>
          </a:xfrm>
          <a:prstGeom prst="roundRect">
            <a:avLst>
              <a:gd name="adj" fmla="val 13611"/>
            </a:avLst>
          </a:prstGeom>
          <a:solidFill>
            <a:srgbClr val="003B5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39"/>
          <p:cNvSpPr txBox="1"/>
          <p:nvPr/>
        </p:nvSpPr>
        <p:spPr>
          <a:xfrm>
            <a:off x="8232185" y="39814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/favorites</a:t>
            </a:r>
            <a:endParaRPr lang="en-US" sz="798" dirty="0"/>
          </a:p>
        </p:txBody>
      </p:sp>
      <p:sp>
        <p:nvSpPr>
          <p:cNvPr id="60" name="Text 40"/>
          <p:cNvSpPr txBox="1"/>
          <p:nvPr/>
        </p:nvSpPr>
        <p:spPr>
          <a:xfrm>
            <a:off x="8232185" y="41465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/history</a:t>
            </a:r>
            <a:endParaRPr lang="en-US" sz="798" dirty="0"/>
          </a:p>
        </p:txBody>
      </p:sp>
      <p:sp>
        <p:nvSpPr>
          <p:cNvPr id="61" name="Text 41"/>
          <p:cNvSpPr txBox="1"/>
          <p:nvPr/>
        </p:nvSpPr>
        <p:spPr>
          <a:xfrm>
            <a:off x="8232185" y="4311650"/>
            <a:ext cx="33654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98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/history</a:t>
            </a:r>
            <a:endParaRPr lang="en-US" sz="798" dirty="0"/>
          </a:p>
        </p:txBody>
      </p:sp>
      <p:sp>
        <p:nvSpPr>
          <p:cNvPr id="62" name="Shape 42"/>
          <p:cNvSpPr/>
          <p:nvPr/>
        </p:nvSpPr>
        <p:spPr>
          <a:xfrm>
            <a:off x="3214074" y="6096000"/>
            <a:ext cx="1824624" cy="279400"/>
          </a:xfrm>
          <a:prstGeom prst="roundRect">
            <a:avLst>
              <a:gd name="adj" fmla="val 148745455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315420" y="6172200"/>
            <a:ext cx="126683" cy="127000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3492775" y="6146800"/>
            <a:ext cx="14445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Endpoints Validados</a:t>
            </a:r>
            <a:endParaRPr lang="en-US" sz="898" dirty="0"/>
          </a:p>
        </p:txBody>
      </p:sp>
      <p:sp>
        <p:nvSpPr>
          <p:cNvPr id="65" name="Shape 44"/>
          <p:cNvSpPr/>
          <p:nvPr/>
        </p:nvSpPr>
        <p:spPr>
          <a:xfrm>
            <a:off x="5140043" y="6096000"/>
            <a:ext cx="1881730" cy="279400"/>
          </a:xfrm>
          <a:prstGeom prst="roundRect">
            <a:avLst>
              <a:gd name="adj" fmla="val 148745455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1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241389" y="6172200"/>
            <a:ext cx="126683" cy="127000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5418745" y="6146800"/>
            <a:ext cx="150168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Correcto de Errores</a:t>
            </a:r>
            <a:endParaRPr lang="en-US" sz="898" dirty="0"/>
          </a:p>
        </p:txBody>
      </p:sp>
      <p:sp>
        <p:nvSpPr>
          <p:cNvPr id="68" name="Shape 46"/>
          <p:cNvSpPr/>
          <p:nvPr/>
        </p:nvSpPr>
        <p:spPr>
          <a:xfrm>
            <a:off x="7123119" y="6096000"/>
            <a:ext cx="1824228" cy="279400"/>
          </a:xfrm>
          <a:prstGeom prst="roundRect">
            <a:avLst>
              <a:gd name="adj" fmla="val 148745455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224465" y="6172200"/>
            <a:ext cx="126683" cy="127000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7401821" y="6146800"/>
            <a:ext cx="144418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HTTP Apropiados</a:t>
            </a:r>
            <a:endParaRPr lang="en-US" sz="898" dirty="0"/>
          </a:p>
        </p:txBody>
      </p:sp>
      <p:sp>
        <p:nvSpPr>
          <p:cNvPr id="71" name="Text 48"/>
          <p:cNvSpPr txBox="1"/>
          <p:nvPr/>
        </p:nvSpPr>
        <p:spPr>
          <a:xfrm>
            <a:off x="0" y="65786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89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Resultados Obtenidos</a:t>
            </a:r>
            <a:endParaRPr lang="en-US" sz="2993" dirty="0"/>
          </a:p>
        </p:txBody>
      </p:sp>
      <p:sp>
        <p:nvSpPr>
          <p:cNvPr id="3" name="Shape 1"/>
          <p:cNvSpPr/>
          <p:nvPr/>
        </p:nvSpPr>
        <p:spPr>
          <a:xfrm>
            <a:off x="405384" y="990600"/>
            <a:ext cx="2723674" cy="1397000"/>
          </a:xfrm>
          <a:prstGeom prst="roundRect">
            <a:avLst>
              <a:gd name="adj" fmla="val 7140"/>
            </a:avLst>
          </a:prstGeom>
          <a:solidFill>
            <a:srgbClr val="0077BE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89865" y="1155700"/>
            <a:ext cx="354711" cy="355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61520" y="1587500"/>
            <a:ext cx="2114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2993" dirty="0"/>
          </a:p>
        </p:txBody>
      </p:sp>
      <p:sp>
        <p:nvSpPr>
          <p:cNvPr id="6" name="Text 3"/>
          <p:cNvSpPr txBox="1"/>
          <p:nvPr/>
        </p:nvSpPr>
        <p:spPr>
          <a:xfrm>
            <a:off x="1315123" y="2019300"/>
            <a:ext cx="9041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Tablas de BD</a:t>
            </a:r>
            <a:endParaRPr lang="en-US" sz="1197" dirty="0"/>
          </a:p>
        </p:txBody>
      </p:sp>
      <p:sp>
        <p:nvSpPr>
          <p:cNvPr id="7" name="Shape 4"/>
          <p:cNvSpPr/>
          <p:nvPr/>
        </p:nvSpPr>
        <p:spPr>
          <a:xfrm>
            <a:off x="3281077" y="990600"/>
            <a:ext cx="2723674" cy="1397000"/>
          </a:xfrm>
          <a:prstGeom prst="roundRect">
            <a:avLst>
              <a:gd name="adj" fmla="val 7140"/>
            </a:avLst>
          </a:prstGeom>
          <a:solidFill>
            <a:srgbClr val="0077BE"/>
          </a:solidFill>
          <a:ln w="12668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5558" y="1155700"/>
            <a:ext cx="354711" cy="355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20566" y="1587500"/>
            <a:ext cx="644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4CAF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12+</a:t>
            </a:r>
            <a:endParaRPr lang="en-US" sz="2993" dirty="0"/>
          </a:p>
        </p:txBody>
      </p:sp>
      <p:sp>
        <p:nvSpPr>
          <p:cNvPr id="10" name="Text 6"/>
          <p:cNvSpPr txBox="1"/>
          <p:nvPr/>
        </p:nvSpPr>
        <p:spPr>
          <a:xfrm>
            <a:off x="4089272" y="2019300"/>
            <a:ext cx="110718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</a:t>
            </a:r>
            <a:endParaRPr lang="en-US" sz="1197" dirty="0"/>
          </a:p>
        </p:txBody>
      </p:sp>
      <p:sp>
        <p:nvSpPr>
          <p:cNvPr id="11" name="Shape 7"/>
          <p:cNvSpPr/>
          <p:nvPr/>
        </p:nvSpPr>
        <p:spPr>
          <a:xfrm>
            <a:off x="6156770" y="990600"/>
            <a:ext cx="2723674" cy="1397000"/>
          </a:xfrm>
          <a:prstGeom prst="roundRect">
            <a:avLst>
              <a:gd name="adj" fmla="val 7140"/>
            </a:avLst>
          </a:prstGeom>
          <a:solidFill>
            <a:srgbClr val="0077BE"/>
          </a:solidFill>
          <a:ln w="12668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41251" y="1155700"/>
            <a:ext cx="354711" cy="355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12906" y="1587500"/>
            <a:ext cx="2114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0077B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993" dirty="0"/>
          </a:p>
        </p:txBody>
      </p:sp>
      <p:sp>
        <p:nvSpPr>
          <p:cNvPr id="14" name="Text 9"/>
          <p:cNvSpPr txBox="1"/>
          <p:nvPr/>
        </p:nvSpPr>
        <p:spPr>
          <a:xfrm>
            <a:off x="6762272" y="2019300"/>
            <a:ext cx="15126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Capas Arquitectónicas</a:t>
            </a:r>
            <a:endParaRPr lang="en-US" sz="1197" dirty="0"/>
          </a:p>
        </p:txBody>
      </p:sp>
      <p:sp>
        <p:nvSpPr>
          <p:cNvPr id="15" name="Shape 10"/>
          <p:cNvSpPr/>
          <p:nvPr/>
        </p:nvSpPr>
        <p:spPr>
          <a:xfrm>
            <a:off x="9032462" y="990600"/>
            <a:ext cx="2723674" cy="1397000"/>
          </a:xfrm>
          <a:prstGeom prst="roundRect">
            <a:avLst>
              <a:gd name="adj" fmla="val 7140"/>
            </a:avLst>
          </a:prstGeom>
          <a:solidFill>
            <a:srgbClr val="0077BE"/>
          </a:solidFill>
          <a:ln w="12668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16944" y="1155700"/>
            <a:ext cx="354711" cy="355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908254" y="1587500"/>
            <a:ext cx="9720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93" b="1" dirty="0">
                <a:solidFill>
                  <a:srgbClr val="4CAF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100%</a:t>
            </a:r>
            <a:endParaRPr lang="en-US" sz="2993" dirty="0"/>
          </a:p>
        </p:txBody>
      </p:sp>
      <p:sp>
        <p:nvSpPr>
          <p:cNvPr id="18" name="Text 12"/>
          <p:cNvSpPr txBox="1"/>
          <p:nvPr/>
        </p:nvSpPr>
        <p:spPr>
          <a:xfrm>
            <a:off x="9697248" y="2019300"/>
            <a:ext cx="139410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Cumplidos</a:t>
            </a:r>
            <a:endParaRPr lang="en-US" sz="1197" dirty="0"/>
          </a:p>
        </p:txBody>
      </p:sp>
      <p:sp>
        <p:nvSpPr>
          <p:cNvPr id="19" name="Text 13"/>
          <p:cNvSpPr txBox="1"/>
          <p:nvPr/>
        </p:nvSpPr>
        <p:spPr>
          <a:xfrm>
            <a:off x="405384" y="2590800"/>
            <a:ext cx="113507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Funcionalidades Implementadas con Éxito</a:t>
            </a:r>
            <a:endParaRPr lang="en-US" sz="1795" dirty="0"/>
          </a:p>
        </p:txBody>
      </p:sp>
      <p:sp>
        <p:nvSpPr>
          <p:cNvPr id="20" name="Text 14"/>
          <p:cNvSpPr txBox="1"/>
          <p:nvPr/>
        </p:nvSpPr>
        <p:spPr>
          <a:xfrm>
            <a:off x="405384" y="29972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autenticación segura con bcrypt</a:t>
            </a:r>
            <a:endParaRPr lang="en-US" sz="1197" dirty="0"/>
          </a:p>
        </p:txBody>
      </p:sp>
      <p:sp>
        <p:nvSpPr>
          <p:cNvPr id="21" name="Text 15"/>
          <p:cNvSpPr txBox="1"/>
          <p:nvPr/>
        </p:nvSpPr>
        <p:spPr>
          <a:xfrm>
            <a:off x="405384" y="32766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múltiples perfiles por cuenta</a:t>
            </a:r>
            <a:endParaRPr lang="en-US" sz="1197" dirty="0"/>
          </a:p>
        </p:txBody>
      </p:sp>
      <p:sp>
        <p:nvSpPr>
          <p:cNvPr id="22" name="Text 16"/>
          <p:cNvSpPr txBox="1"/>
          <p:nvPr/>
        </p:nvSpPr>
        <p:spPr>
          <a:xfrm>
            <a:off x="405384" y="35560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dual: audiovisual y audio</a:t>
            </a:r>
            <a:endParaRPr lang="en-US" sz="1197" dirty="0"/>
          </a:p>
        </p:txBody>
      </p:sp>
      <p:sp>
        <p:nvSpPr>
          <p:cNvPr id="23" name="Text 17"/>
          <p:cNvSpPr txBox="1"/>
          <p:nvPr/>
        </p:nvSpPr>
        <p:spPr>
          <a:xfrm>
            <a:off x="405384" y="38354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Filtrado automático por clasificación de edad</a:t>
            </a:r>
            <a:endParaRPr lang="en-US" sz="1197" dirty="0"/>
          </a:p>
        </p:txBody>
      </p:sp>
      <p:sp>
        <p:nvSpPr>
          <p:cNvPr id="24" name="Text 18"/>
          <p:cNvSpPr txBox="1"/>
          <p:nvPr/>
        </p:nvSpPr>
        <p:spPr>
          <a:xfrm>
            <a:off x="4256532" y="29972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Lista (Favoritos) con validaciones</a:t>
            </a:r>
            <a:endParaRPr lang="en-US" sz="1197" dirty="0"/>
          </a:p>
        </p:txBody>
      </p:sp>
      <p:sp>
        <p:nvSpPr>
          <p:cNvPr id="25" name="Text 19"/>
          <p:cNvSpPr txBox="1"/>
          <p:nvPr/>
        </p:nvSpPr>
        <p:spPr>
          <a:xfrm>
            <a:off x="4256532" y="32766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de reproducción con progreso</a:t>
            </a:r>
            <a:endParaRPr lang="en-US" sz="1197" dirty="0"/>
          </a:p>
        </p:txBody>
      </p:sp>
      <p:sp>
        <p:nvSpPr>
          <p:cNvPr id="26" name="Text 20"/>
          <p:cNvSpPr txBox="1"/>
          <p:nvPr/>
        </p:nvSpPr>
        <p:spPr>
          <a:xfrm>
            <a:off x="4256532" y="35560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calificaciones (1.0-10.0)</a:t>
            </a:r>
            <a:endParaRPr lang="en-US" sz="1197" dirty="0"/>
          </a:p>
        </p:txBody>
      </p:sp>
      <p:sp>
        <p:nvSpPr>
          <p:cNvPr id="27" name="Text 21"/>
          <p:cNvSpPr txBox="1"/>
          <p:nvPr/>
        </p:nvSpPr>
        <p:spPr>
          <a:xfrm>
            <a:off x="4256532" y="38354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planes de suscripción funcionales</a:t>
            </a:r>
            <a:endParaRPr lang="en-US" sz="1197" dirty="0"/>
          </a:p>
        </p:txBody>
      </p:sp>
      <p:sp>
        <p:nvSpPr>
          <p:cNvPr id="28" name="Text 22"/>
          <p:cNvSpPr txBox="1"/>
          <p:nvPr/>
        </p:nvSpPr>
        <p:spPr>
          <a:xfrm>
            <a:off x="8107680" y="29972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administración completo</a:t>
            </a:r>
            <a:endParaRPr lang="en-US" sz="1197" dirty="0"/>
          </a:p>
        </p:txBody>
      </p:sp>
      <p:sp>
        <p:nvSpPr>
          <p:cNvPr id="29" name="Text 23"/>
          <p:cNvSpPr txBox="1"/>
          <p:nvPr/>
        </p:nvSpPr>
        <p:spPr>
          <a:xfrm>
            <a:off x="8107680" y="32766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métodos de pago</a:t>
            </a:r>
            <a:endParaRPr lang="en-US" sz="1197" dirty="0"/>
          </a:p>
        </p:txBody>
      </p:sp>
      <p:sp>
        <p:nvSpPr>
          <p:cNvPr id="30" name="Text 24"/>
          <p:cNvSpPr txBox="1"/>
          <p:nvPr/>
        </p:nvSpPr>
        <p:spPr>
          <a:xfrm>
            <a:off x="8107680" y="35560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Trending/Tendencias por rating</a:t>
            </a:r>
            <a:endParaRPr lang="en-US" sz="1197" dirty="0"/>
          </a:p>
        </p:txBody>
      </p:sp>
      <p:sp>
        <p:nvSpPr>
          <p:cNvPr id="31" name="Text 25"/>
          <p:cNvSpPr txBox="1"/>
          <p:nvPr/>
        </p:nvSpPr>
        <p:spPr>
          <a:xfrm>
            <a:off x="8107680" y="3835400"/>
            <a:ext cx="364845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97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r>
              <a:rPr lang="en-US" sz="9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Continuar viendo en página de inicio</a:t>
            </a:r>
            <a:endParaRPr lang="en-US" sz="1197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68488" y="4241800"/>
            <a:ext cx="304038" cy="3048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973872" y="4279900"/>
            <a:ext cx="2619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Aprendizajes Técnicos Clave</a:t>
            </a:r>
            <a:endParaRPr lang="en-US" sz="1496" dirty="0"/>
          </a:p>
        </p:txBody>
      </p:sp>
      <p:sp>
        <p:nvSpPr>
          <p:cNvPr id="34" name="Shape 27"/>
          <p:cNvSpPr/>
          <p:nvPr/>
        </p:nvSpPr>
        <p:spPr>
          <a:xfrm>
            <a:off x="405384" y="4699000"/>
            <a:ext cx="2723674" cy="889000"/>
          </a:xfrm>
          <a:prstGeom prst="roundRect">
            <a:avLst>
              <a:gd name="adj" fmla="val 1763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570071" y="4864100"/>
            <a:ext cx="239429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Arquitectura en capas con Go</a:t>
            </a:r>
            <a:endParaRPr lang="en-US" sz="998" dirty="0"/>
          </a:p>
        </p:txBody>
      </p:sp>
      <p:sp>
        <p:nvSpPr>
          <p:cNvPr id="36" name="Text 29"/>
          <p:cNvSpPr txBox="1"/>
          <p:nvPr/>
        </p:nvSpPr>
        <p:spPr>
          <a:xfrm>
            <a:off x="570071" y="5118100"/>
            <a:ext cx="2394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Separación efectiva de responsabilidades mejora mantenibilidad</a:t>
            </a:r>
            <a:endParaRPr lang="en-US" sz="798" dirty="0"/>
          </a:p>
        </p:txBody>
      </p:sp>
      <p:sp>
        <p:nvSpPr>
          <p:cNvPr id="37" name="Shape 30"/>
          <p:cNvSpPr/>
          <p:nvPr/>
        </p:nvSpPr>
        <p:spPr>
          <a:xfrm>
            <a:off x="3281077" y="4699000"/>
            <a:ext cx="2723674" cy="889000"/>
          </a:xfrm>
          <a:prstGeom prst="roundRect">
            <a:avLst>
              <a:gd name="adj" fmla="val 1763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3445764" y="4864100"/>
            <a:ext cx="239429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Seguridad desde el diseño</a:t>
            </a:r>
            <a:endParaRPr lang="en-US" sz="998" dirty="0"/>
          </a:p>
        </p:txBody>
      </p:sp>
      <p:sp>
        <p:nvSpPr>
          <p:cNvPr id="39" name="Text 32"/>
          <p:cNvSpPr txBox="1"/>
          <p:nvPr/>
        </p:nvSpPr>
        <p:spPr>
          <a:xfrm>
            <a:off x="3445764" y="5118100"/>
            <a:ext cx="2394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Bcrypt, validaciones tempranas, y protección de menores</a:t>
            </a:r>
            <a:endParaRPr lang="en-US" sz="798" dirty="0"/>
          </a:p>
        </p:txBody>
      </p:sp>
      <p:sp>
        <p:nvSpPr>
          <p:cNvPr id="40" name="Shape 33"/>
          <p:cNvSpPr/>
          <p:nvPr/>
        </p:nvSpPr>
        <p:spPr>
          <a:xfrm>
            <a:off x="6156770" y="4699000"/>
            <a:ext cx="2723674" cy="889000"/>
          </a:xfrm>
          <a:prstGeom prst="roundRect">
            <a:avLst>
              <a:gd name="adj" fmla="val 1763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6321457" y="4864100"/>
            <a:ext cx="239429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Testing integral</a:t>
            </a:r>
            <a:endParaRPr lang="en-US" sz="998" dirty="0"/>
          </a:p>
        </p:txBody>
      </p:sp>
      <p:sp>
        <p:nvSpPr>
          <p:cNvPr id="42" name="Text 35"/>
          <p:cNvSpPr txBox="1"/>
          <p:nvPr/>
        </p:nvSpPr>
        <p:spPr>
          <a:xfrm>
            <a:off x="6321457" y="5118100"/>
            <a:ext cx="23942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unitaria y de integración garantiza calidad</a:t>
            </a:r>
            <a:endParaRPr lang="en-US" sz="798" dirty="0"/>
          </a:p>
        </p:txBody>
      </p:sp>
      <p:sp>
        <p:nvSpPr>
          <p:cNvPr id="43" name="Shape 36"/>
          <p:cNvSpPr/>
          <p:nvPr/>
        </p:nvSpPr>
        <p:spPr>
          <a:xfrm>
            <a:off x="9032462" y="4699000"/>
            <a:ext cx="2723674" cy="889000"/>
          </a:xfrm>
          <a:prstGeom prst="roundRect">
            <a:avLst>
              <a:gd name="adj" fmla="val 1763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9197150" y="4864100"/>
            <a:ext cx="239429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Base de datos relacional</a:t>
            </a:r>
            <a:endParaRPr lang="en-US" sz="998" dirty="0"/>
          </a:p>
        </p:txBody>
      </p:sp>
      <p:sp>
        <p:nvSpPr>
          <p:cNvPr id="45" name="Text 38"/>
          <p:cNvSpPr txBox="1"/>
          <p:nvPr/>
        </p:nvSpPr>
        <p:spPr>
          <a:xfrm>
            <a:off x="9197150" y="5118100"/>
            <a:ext cx="2394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con constraints y FKs asegura integridad de datos</a:t>
            </a:r>
            <a:endParaRPr lang="en-US" sz="798" dirty="0"/>
          </a:p>
        </p:txBody>
      </p:sp>
      <p:sp>
        <p:nvSpPr>
          <p:cNvPr id="46" name="Text 39"/>
          <p:cNvSpPr txBox="1"/>
          <p:nvPr/>
        </p:nvSpPr>
        <p:spPr>
          <a:xfrm>
            <a:off x="0" y="6527800"/>
            <a:ext cx="12161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D4E8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SDGEStreaming - Sistema de Gestión de Contenido Audiovisual</a:t>
            </a:r>
            <a:endParaRPr lang="en-US" sz="99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32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Conclusiones e Importancia del Proyecto</a:t>
            </a:r>
            <a:endParaRPr lang="en-US" sz="299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5736" y="787400"/>
            <a:ext cx="253365" cy="254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70447" y="787400"/>
            <a:ext cx="27752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Conclusiones Principales</a:t>
            </a:r>
            <a:endParaRPr lang="en-US" sz="1795" dirty="0"/>
          </a:p>
        </p:txBody>
      </p:sp>
      <p:sp>
        <p:nvSpPr>
          <p:cNvPr id="5" name="Shape 2"/>
          <p:cNvSpPr/>
          <p:nvPr/>
        </p:nvSpPr>
        <p:spPr>
          <a:xfrm>
            <a:off x="405384" y="1143000"/>
            <a:ext cx="5624703" cy="1234380"/>
          </a:xfrm>
          <a:prstGeom prst="roundRect">
            <a:avLst>
              <a:gd name="adj" fmla="val 9146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3064" y="12509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969121" y="1250950"/>
            <a:ext cx="47718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Modular Exitosa</a:t>
            </a:r>
            <a:endParaRPr lang="en-US" sz="1197" dirty="0"/>
          </a:p>
        </p:txBody>
      </p:sp>
      <p:sp>
        <p:nvSpPr>
          <p:cNvPr id="8" name="Text 5"/>
          <p:cNvSpPr txBox="1"/>
          <p:nvPr/>
        </p:nvSpPr>
        <p:spPr>
          <a:xfrm>
            <a:off x="969121" y="1479550"/>
            <a:ext cx="47718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en capas (Handlers, Services, DB) demostró ser efectiva y mantenible con Go.</a:t>
            </a:r>
            <a:endParaRPr lang="en-US" sz="898" dirty="0"/>
          </a:p>
        </p:txBody>
      </p:sp>
      <p:sp>
        <p:nvSpPr>
          <p:cNvPr id="9" name="Shape 6"/>
          <p:cNvSpPr/>
          <p:nvPr/>
        </p:nvSpPr>
        <p:spPr>
          <a:xfrm>
            <a:off x="6131433" y="1143000"/>
            <a:ext cx="5624703" cy="1234380"/>
          </a:xfrm>
          <a:prstGeom prst="roundRect">
            <a:avLst>
              <a:gd name="adj" fmla="val 9146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39113" y="12509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695170" y="1250950"/>
            <a:ext cx="435401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como Prioridad</a:t>
            </a:r>
            <a:endParaRPr lang="en-US" sz="1197" dirty="0"/>
          </a:p>
        </p:txBody>
      </p:sp>
      <p:sp>
        <p:nvSpPr>
          <p:cNvPr id="12" name="Text 9"/>
          <p:cNvSpPr txBox="1"/>
          <p:nvPr/>
        </p:nvSpPr>
        <p:spPr>
          <a:xfrm>
            <a:off x="6695170" y="1479550"/>
            <a:ext cx="435401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implementó seguridad por diseño con bcrypt, validaciones y clasificación por edad.</a:t>
            </a:r>
            <a:endParaRPr lang="en-US" sz="898" dirty="0"/>
          </a:p>
        </p:txBody>
      </p:sp>
      <p:sp>
        <p:nvSpPr>
          <p:cNvPr id="13" name="Shape 10"/>
          <p:cNvSpPr/>
          <p:nvPr/>
        </p:nvSpPr>
        <p:spPr>
          <a:xfrm>
            <a:off x="405384" y="2478980"/>
            <a:ext cx="5624703" cy="1234480"/>
          </a:xfrm>
          <a:prstGeom prst="roundRect">
            <a:avLst>
              <a:gd name="adj" fmla="val 9144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3064" y="258693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69121" y="2586930"/>
            <a:ext cx="47721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1197" dirty="0"/>
          </a:p>
        </p:txBody>
      </p:sp>
      <p:sp>
        <p:nvSpPr>
          <p:cNvPr id="16" name="Text 13"/>
          <p:cNvSpPr txBox="1"/>
          <p:nvPr/>
        </p:nvSpPr>
        <p:spPr>
          <a:xfrm>
            <a:off x="969121" y="2815530"/>
            <a:ext cx="477216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completó Mi Lista e Historial de Reproducción con validaciones y seguimiento de progreso.</a:t>
            </a:r>
            <a:endParaRPr lang="en-US" sz="898" dirty="0"/>
          </a:p>
        </p:txBody>
      </p:sp>
      <p:sp>
        <p:nvSpPr>
          <p:cNvPr id="17" name="Shape 14"/>
          <p:cNvSpPr/>
          <p:nvPr/>
        </p:nvSpPr>
        <p:spPr>
          <a:xfrm>
            <a:off x="6131433" y="2478980"/>
            <a:ext cx="5624703" cy="1234480"/>
          </a:xfrm>
          <a:prstGeom prst="roundRect">
            <a:avLst>
              <a:gd name="adj" fmla="val 9144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39113" y="258693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695170" y="2586930"/>
            <a:ext cx="444279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Bien Diseñada</a:t>
            </a:r>
            <a:endParaRPr lang="en-US" sz="1197" dirty="0"/>
          </a:p>
        </p:txBody>
      </p:sp>
      <p:sp>
        <p:nvSpPr>
          <p:cNvPr id="20" name="Text 17"/>
          <p:cNvSpPr txBox="1"/>
          <p:nvPr/>
        </p:nvSpPr>
        <p:spPr>
          <a:xfrm>
            <a:off x="6695170" y="2815530"/>
            <a:ext cx="444279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esquema SQLite garantiza integridad referencial y previene inconsistencias de datos.</a:t>
            </a:r>
            <a:endParaRPr lang="en-US" sz="898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1172" y="3815060"/>
            <a:ext cx="253365" cy="2540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895883" y="3815060"/>
            <a:ext cx="27244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Importancia del Proyecto</a:t>
            </a:r>
            <a:endParaRPr lang="en-US" sz="1795" dirty="0"/>
          </a:p>
        </p:txBody>
      </p:sp>
      <p:sp>
        <p:nvSpPr>
          <p:cNvPr id="23" name="Shape 19"/>
          <p:cNvSpPr/>
          <p:nvPr/>
        </p:nvSpPr>
        <p:spPr>
          <a:xfrm>
            <a:off x="405384" y="4170660"/>
            <a:ext cx="11350752" cy="1595140"/>
          </a:xfrm>
          <a:prstGeom prst="roundRect">
            <a:avLst>
              <a:gd name="adj" fmla="val 5477"/>
            </a:avLst>
          </a:prstGeom>
          <a:solidFill>
            <a:srgbClr val="00B0F0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187352" y="4284960"/>
            <a:ext cx="304038" cy="304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729612" y="4640560"/>
            <a:ext cx="121951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Valor Académico</a:t>
            </a:r>
            <a:endParaRPr lang="en-US" sz="1197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28642" y="4284960"/>
            <a:ext cx="304038" cy="3048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206255" y="4640560"/>
            <a:ext cx="174881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Preparación Profesional</a:t>
            </a:r>
            <a:endParaRPr lang="en-US" sz="1197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670032" y="4284960"/>
            <a:ext cx="304038" cy="3048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20645" y="4640560"/>
            <a:ext cx="14028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Relevancia Técnica</a:t>
            </a:r>
            <a:endParaRPr lang="en-US" sz="1197" dirty="0"/>
          </a:p>
        </p:txBody>
      </p:sp>
      <p:sp>
        <p:nvSpPr>
          <p:cNvPr id="30" name="Text 23"/>
          <p:cNvSpPr txBox="1"/>
          <p:nvPr/>
        </p:nvSpPr>
        <p:spPr>
          <a:xfrm>
            <a:off x="405285" y="5880100"/>
            <a:ext cx="113507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i="1" dirty="0">
                <a:solidFill>
                  <a:srgbClr val="68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backend robusto es la base de cualquier plataforma de streaming exitosa.</a:t>
            </a:r>
            <a:endParaRPr lang="en-US" sz="1197" dirty="0"/>
          </a:p>
        </p:txBody>
      </p:sp>
      <p:sp>
        <p:nvSpPr>
          <p:cNvPr id="31" name="Text 24"/>
          <p:cNvSpPr txBox="1"/>
          <p:nvPr/>
        </p:nvSpPr>
        <p:spPr>
          <a:xfrm>
            <a:off x="405384" y="6121400"/>
            <a:ext cx="1135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Académico - POO | Go (Golang) | 2025</a:t>
            </a:r>
            <a:endParaRPr lang="en-US" sz="798" dirty="0"/>
          </a:p>
        </p:txBody>
      </p:sp>
      <p:sp>
        <p:nvSpPr>
          <p:cNvPr id="32" name="Text 25"/>
          <p:cNvSpPr txBox="1"/>
          <p:nvPr/>
        </p:nvSpPr>
        <p:spPr>
          <a:xfrm>
            <a:off x="0" y="65278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1496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4AE28-4991-9A63-DA3E-5FE1B68999B4}"/>
              </a:ext>
            </a:extLst>
          </p:cNvPr>
          <p:cNvSpPr txBox="1"/>
          <p:nvPr/>
        </p:nvSpPr>
        <p:spPr>
          <a:xfrm>
            <a:off x="857570" y="4956623"/>
            <a:ext cx="2963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ES" sz="1100" b="0" i="0" dirty="0">
                <a:solidFill>
                  <a:srgbClr val="F0F8FF"/>
                </a:solidFill>
                <a:effectLst/>
                <a:latin typeface="Inter"/>
              </a:rPr>
              <a:t>Aplicación práctica de POO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ES" sz="1100" b="0" i="0" dirty="0">
                <a:solidFill>
                  <a:srgbClr val="F0F8FF"/>
                </a:solidFill>
                <a:effectLst/>
                <a:latin typeface="Inter"/>
              </a:rPr>
              <a:t>Experiencia con </a:t>
            </a:r>
            <a:r>
              <a:rPr lang="es-ES" sz="1100" b="0" i="0" dirty="0" err="1">
                <a:solidFill>
                  <a:srgbClr val="F0F8FF"/>
                </a:solidFill>
                <a:effectLst/>
                <a:latin typeface="Inter"/>
              </a:rPr>
              <a:t>Go</a:t>
            </a:r>
            <a:r>
              <a:rPr lang="es-ES" sz="1100" b="0" i="0" dirty="0">
                <a:solidFill>
                  <a:srgbClr val="F0F8FF"/>
                </a:solidFill>
                <a:effectLst/>
                <a:latin typeface="Inter"/>
              </a:rPr>
              <a:t>, SQLite, REST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ES" sz="1100" b="0" i="0" dirty="0">
                <a:solidFill>
                  <a:srgbClr val="F0F8FF"/>
                </a:solidFill>
                <a:effectLst/>
                <a:latin typeface="Inter"/>
              </a:rPr>
              <a:t>Uso de patrones de diseño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BC9314-8CD5-8C87-C506-38E559BEFBED}"/>
              </a:ext>
            </a:extLst>
          </p:cNvPr>
          <p:cNvSpPr txBox="1"/>
          <p:nvPr/>
        </p:nvSpPr>
        <p:spPr>
          <a:xfrm>
            <a:off x="3023601" y="4846896"/>
            <a:ext cx="60970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ES" sz="1100" b="0" i="0">
                <a:solidFill>
                  <a:srgbClr val="F0F8FF"/>
                </a:solidFill>
                <a:effectLst/>
                <a:latin typeface="Inter"/>
              </a:rPr>
              <a:t>Proyecto para portfolio técnico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ES" sz="1100" b="0" i="0">
                <a:solidFill>
                  <a:srgbClr val="F0F8FF"/>
                </a:solidFill>
                <a:effectLst/>
                <a:latin typeface="Inter"/>
              </a:rPr>
              <a:t>Experiencia en desarrollo backend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ES" sz="1100" b="0" i="0">
                <a:solidFill>
                  <a:srgbClr val="F0F8FF"/>
                </a:solidFill>
                <a:effectLst/>
                <a:latin typeface="Inter"/>
              </a:rPr>
              <a:t>Testing, seguridad y bases de datos</a:t>
            </a:r>
            <a:endParaRPr lang="es-ES" sz="1100" b="0" i="0" dirty="0">
              <a:solidFill>
                <a:srgbClr val="F0F8FF"/>
              </a:solidFill>
              <a:effectLst/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9EFC93-7A9E-9A3E-4443-4A75DB1748FD}"/>
              </a:ext>
            </a:extLst>
          </p:cNvPr>
          <p:cNvSpPr txBox="1"/>
          <p:nvPr/>
        </p:nvSpPr>
        <p:spPr>
          <a:xfrm>
            <a:off x="6741881" y="4810492"/>
            <a:ext cx="609704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F0F8FF"/>
                </a:solidFill>
                <a:effectLst/>
                <a:latin typeface="Inter"/>
              </a:rPr>
              <a:t>Sistema escalable y mantenible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F0F8FF"/>
                </a:solidFill>
                <a:effectLst/>
                <a:latin typeface="Inter"/>
              </a:rPr>
              <a:t>Fundamentos para API REST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F0F8FF"/>
                </a:solidFill>
                <a:effectLst/>
                <a:latin typeface="Inter"/>
              </a:rPr>
              <a:t>Base para futuras </a:t>
            </a:r>
            <a:r>
              <a:rPr lang="es-ES" sz="1200" b="0" i="0" dirty="0" err="1">
                <a:solidFill>
                  <a:srgbClr val="F0F8FF"/>
                </a:solidFill>
                <a:effectLst/>
                <a:latin typeface="Inter"/>
              </a:rPr>
              <a:t>features</a:t>
            </a:r>
            <a:endParaRPr lang="es-ES" sz="1200" b="0" i="0" dirty="0">
              <a:solidFill>
                <a:srgbClr val="F0F8FF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d83b713-62df-4e67-be1f-e092642d7689}" enabled="1" method="Standard" siteId="{94d09b77-373a-45bc-9c3d-84e2455443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1704</Words>
  <Application>Microsoft Office PowerPoint</Application>
  <PresentationFormat>Widescreen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Century Gothic</vt:lpstr>
      <vt:lpstr>Consolas</vt:lpstr>
      <vt:lpstr>Inter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Penaherrera, Barbara</cp:lastModifiedBy>
  <cp:revision>2</cp:revision>
  <dcterms:created xsi:type="dcterms:W3CDTF">2025-12-21T00:21:34Z</dcterms:created>
  <dcterms:modified xsi:type="dcterms:W3CDTF">2025-12-21T00:30:01Z</dcterms:modified>
</cp:coreProperties>
</file>